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c07d5c1e04a80" /><Relationship Type="http://schemas.openxmlformats.org/officeDocument/2006/relationships/extended-properties" Target="/docProps/app.xml" Id="Rfffb239103c340d3" /><Relationship Type="http://schemas.openxmlformats.org/officeDocument/2006/relationships/officeDocument" Target="/ppt/presentation.xml" Id="Reb1516fb5d62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67bda15c7b423e"/>
  </p:sldMasterIdLst>
  <p:notesMasterIdLst>
    <p:notesMasterId xmlns:r="http://schemas.openxmlformats.org/officeDocument/2006/relationships" r:id="R0d20c32dcba847f4"/>
  </p:notesMasterIdLst>
  <p:sldIdLst>
    <p:sldId xmlns:r="http://schemas.openxmlformats.org/officeDocument/2006/relationships" id="256" r:id="R29f7120a8ae64628"/>
    <p:sldId xmlns:r="http://schemas.openxmlformats.org/officeDocument/2006/relationships" id="257" r:id="Rf03486ca3910497a"/>
    <p:sldId xmlns:r="http://schemas.openxmlformats.org/officeDocument/2006/relationships" id="258" r:id="Rf6e2bccd643d485a"/>
    <p:sldId xmlns:r="http://schemas.openxmlformats.org/officeDocument/2006/relationships" id="259" r:id="Rf7c411be421f467d"/>
    <p:sldId xmlns:r="http://schemas.openxmlformats.org/officeDocument/2006/relationships" id="260" r:id="R4cc18bcc43584c00"/>
    <p:sldId xmlns:r="http://schemas.openxmlformats.org/officeDocument/2006/relationships" id="261" r:id="R7c18ce1772cc49a4"/>
    <p:sldId xmlns:r="http://schemas.openxmlformats.org/officeDocument/2006/relationships" id="262" r:id="R36c6475ef2a8420d"/>
    <p:sldId xmlns:r="http://schemas.openxmlformats.org/officeDocument/2006/relationships" id="263" r:id="R9bdb2afb65c24540"/>
    <p:sldId xmlns:r="http://schemas.openxmlformats.org/officeDocument/2006/relationships" id="264" r:id="R1faaf6e7540747a0"/>
    <p:sldId xmlns:r="http://schemas.openxmlformats.org/officeDocument/2006/relationships" id="265" r:id="Ra48240d73cab41da"/>
    <p:sldId xmlns:r="http://schemas.openxmlformats.org/officeDocument/2006/relationships" id="266" r:id="R2190e41a958a40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6ae5f25a04699" /><Relationship Type="http://schemas.openxmlformats.org/officeDocument/2006/relationships/slideMaster" Target="/ppt/slideMasters/slideMaster1.xml" Id="Ra667bda15c7b423e" /><Relationship Type="http://schemas.openxmlformats.org/officeDocument/2006/relationships/notesMaster" Target="/ppt/notesMasters/notesMaster1.xml" Id="R0d20c32dcba847f4" /><Relationship Type="http://schemas.openxmlformats.org/officeDocument/2006/relationships/presProps" Target="/ppt/presProps.xml" Id="Rf7f94c61d1ee4568" /><Relationship Type="http://schemas.openxmlformats.org/officeDocument/2006/relationships/tableStyles" Target="/ppt/tableStyles.xml" Id="Rd54c9f566765468f" /><Relationship Type="http://schemas.openxmlformats.org/officeDocument/2006/relationships/slide" Target="/ppt/slides/slide1.xml" Id="R29f7120a8ae64628" /><Relationship Type="http://schemas.openxmlformats.org/officeDocument/2006/relationships/slide" Target="/ppt/slides/slide2.xml" Id="Rf03486ca3910497a" /><Relationship Type="http://schemas.openxmlformats.org/officeDocument/2006/relationships/slide" Target="/ppt/slides/slide3.xml" Id="Rf6e2bccd643d485a" /><Relationship Type="http://schemas.openxmlformats.org/officeDocument/2006/relationships/slide" Target="/ppt/slides/slide4.xml" Id="Rf7c411be421f467d" /><Relationship Type="http://schemas.openxmlformats.org/officeDocument/2006/relationships/slide" Target="/ppt/slides/slide5.xml" Id="R4cc18bcc43584c00" /><Relationship Type="http://schemas.openxmlformats.org/officeDocument/2006/relationships/slide" Target="/ppt/slides/slide6.xml" Id="R7c18ce1772cc49a4" /><Relationship Type="http://schemas.openxmlformats.org/officeDocument/2006/relationships/slide" Target="/ppt/slides/slide7.xml" Id="R36c6475ef2a8420d" /><Relationship Type="http://schemas.openxmlformats.org/officeDocument/2006/relationships/slide" Target="/ppt/slides/slide8.xml" Id="R9bdb2afb65c24540" /><Relationship Type="http://schemas.openxmlformats.org/officeDocument/2006/relationships/slide" Target="/ppt/slides/slide9.xml" Id="R1faaf6e7540747a0" /><Relationship Type="http://schemas.openxmlformats.org/officeDocument/2006/relationships/slide" Target="/ppt/slides/slide10.xml" Id="Ra48240d73cab41da" /><Relationship Type="http://schemas.openxmlformats.org/officeDocument/2006/relationships/slide" Target="/ppt/slides/slide11.xml" Id="R2190e41a958a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849d518336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636900c4d64487" /><Relationship Type="http://schemas.openxmlformats.org/officeDocument/2006/relationships/notesMaster" Target="/ppt/notesMasters/notesMaster1.xml" Id="R6ae5b9784a164f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58061b3f8341c4" /><Relationship Type="http://schemas.openxmlformats.org/officeDocument/2006/relationships/notesMaster" Target="/ppt/notesMasters/notesMaster1.xml" Id="Rde6bcdf6c03a4c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33b3f2c2764031" /><Relationship Type="http://schemas.openxmlformats.org/officeDocument/2006/relationships/notesMaster" Target="/ppt/notesMasters/notesMaster1.xml" Id="R3083d928b47f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d3ec0a093049d7" /><Relationship Type="http://schemas.openxmlformats.org/officeDocument/2006/relationships/notesMaster" Target="/ppt/notesMasters/notesMaster1.xml" Id="R92b86a48d8ee4c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41b3b4a7a94034" /><Relationship Type="http://schemas.openxmlformats.org/officeDocument/2006/relationships/notesMaster" Target="/ppt/notesMasters/notesMaster1.xml" Id="R89f95db08a7745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421d6ca0b04bed" /><Relationship Type="http://schemas.openxmlformats.org/officeDocument/2006/relationships/notesMaster" Target="/ppt/notesMasters/notesMaster1.xml" Id="Re39530cccc9543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dfa81731e64f94" /><Relationship Type="http://schemas.openxmlformats.org/officeDocument/2006/relationships/notesMaster" Target="/ppt/notesMasters/notesMaster1.xml" Id="Rf04c1f6b63c646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0849b71acf4fd3" /><Relationship Type="http://schemas.openxmlformats.org/officeDocument/2006/relationships/notesMaster" Target="/ppt/notesMasters/notesMaster1.xml" Id="Rb490bcf8a71d41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09dcdaeaa944ae" /><Relationship Type="http://schemas.openxmlformats.org/officeDocument/2006/relationships/notesMaster" Target="/ppt/notesMasters/notesMaster1.xml" Id="R4b6a0935bf2a46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909524486409e" /><Relationship Type="http://schemas.openxmlformats.org/officeDocument/2006/relationships/notesMaster" Target="/ppt/notesMasters/notesMaster1.xml" Id="Ra759e61d367349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ff9264017d4899" /><Relationship Type="http://schemas.openxmlformats.org/officeDocument/2006/relationships/notesMaster" Target="/ppt/notesMasters/notesMaster1.xml" Id="R4b91d788fa0044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team and member placeholders before submission. Event dates and rubric fields come from the team prompt, not the SIH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SIH PDF is a reference only. Do not import its navigation problem, SIH identity or team names into this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portal is an illustrative synthetic simulation. The real model pipeline trains separately and requires downloaded data and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novelty claim is integration and evaluation. Quantile regression, CQR and SHAP are existing methods. Sources: https://arxiv.org/abs/1905.03222 and https://shap.readthedocs.io/en/latest/generated/shap.TreeExplainer.html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NASA: https://data.nasa.gov/dataset/cmapss-jet-engine-simulated-data . UCI: https://archive.ics.uci.edu/dataset/601/ai4i+2020+predictive+maintenance+dataset . CQR: https://arxiv.org/abs/1905.03222 . Data domains remain separate. Nominal marginal coverage depends on calibration/test endpoint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diagram uses editable native PowerPoint shapes and connectors. TreeSHAP explains a fitted model, not physical causality. CQR has marginal guarantees under exchangeability, not guaranteed safety under drift.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on this slide are hypotheses or illustrative assumptions, not measured industrial results. Example arithmetic: 10 x 4 x INR 50,000 = INR 2,000,000 gross avoided downtime, before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build target is six hours. Preserve the last 1.5 hours for stabilization, evidence, rehearsal and final submission. Check the actual organizer rules on prepared code and allowed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implementation status is described in README.md. No trained model performance is claimed. Demo sequence: replay clean degradation, inject offset, inject packet loss, export evidence, explain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c55e6144240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90832db864f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62fbc2d424d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2040d07c84e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6602a9f2e49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61fed1b4a4b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CE205-C947-455F-A72A-D96EC1E73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4F6359-502B-4F48-9F44-9F9405DACD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303359-6B7D-4042-8F39-B180D06F6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EBB617-BF68-4CAD-8C40-8C5AD6F1F1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9BE52C-687A-4AE4-874A-C880B1A485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09B444-1B86-4675-953D-59603E2B5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B1C75C-0BEF-4E44-84BE-E9FFB68669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D7DEC8-831F-437E-B7D4-97930C5666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E7F444-2194-431E-99F6-FBA7C39EC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DA93CE-4D22-4A52-BA73-A16829752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1a2236c4ae4b49" /><Relationship Type="http://schemas.openxmlformats.org/officeDocument/2006/relationships/slideLayout" Target="/ppt/slideLayouts/slideLayout1.xml" Id="R762bc18d42e74b52" /><Relationship Type="http://schemas.openxmlformats.org/officeDocument/2006/relationships/slideLayout" Target="/ppt/slideLayouts/slideLayout2.xml" Id="R6099afb105214aa6" /><Relationship Type="http://schemas.openxmlformats.org/officeDocument/2006/relationships/slideLayout" Target="/ppt/slideLayouts/slideLayout3.xml" Id="R350a41f39f784cfa" /><Relationship Type="http://schemas.openxmlformats.org/officeDocument/2006/relationships/slideLayout" Target="/ppt/slideLayouts/slideLayout4.xml" Id="Rd51ae4107266449b" /><Relationship Type="http://schemas.openxmlformats.org/officeDocument/2006/relationships/slideLayout" Target="/ppt/slideLayouts/slideLayout5.xml" Id="Rc0eb817ace9a46e6" /><Relationship Type="http://schemas.openxmlformats.org/officeDocument/2006/relationships/slideLayout" Target="/ppt/slideLayouts/slideLayout6.xml" Id="R4ca3abbe86ff41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2bc18d42e74b52"/>
    <p:sldLayoutId xmlns:r="http://schemas.openxmlformats.org/officeDocument/2006/relationships" id="2147483650" r:id="R6099afb105214aa6"/>
    <p:sldLayoutId xmlns:r="http://schemas.openxmlformats.org/officeDocument/2006/relationships" id="2147483651" r:id="R350a41f39f784cfa"/>
    <p:sldLayoutId xmlns:r="http://schemas.openxmlformats.org/officeDocument/2006/relationships" id="2147483652" r:id="Rd51ae4107266449b"/>
    <p:sldLayoutId xmlns:r="http://schemas.openxmlformats.org/officeDocument/2006/relationships" id="2147483653" r:id="Rc0eb817ace9a46e6"/>
    <p:sldLayoutId xmlns:r="http://schemas.openxmlformats.org/officeDocument/2006/relationships" id="2147483654" r:id="R4ca3abbe86ff41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2fb72c0d7435d" /><Relationship Type="http://schemas.openxmlformats.org/officeDocument/2006/relationships/notesSlide" Target="/ppt/notesSlides/notesSlide1.xml" Id="R25a1f382852e4b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fc9008a0e4b1d" /><Relationship Type="http://schemas.openxmlformats.org/officeDocument/2006/relationships/notesSlide" Target="/ppt/notesSlides/notesSlide2.xml" Id="R5b84e9b3cdc7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5c36ea540a4c95" /><Relationship Type="http://schemas.openxmlformats.org/officeDocument/2006/relationships/notesSlide" Target="/ppt/notesSlides/notesSlide3.xml" Id="R6e54e142b0b4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70dd330724257" /><Relationship Type="http://schemas.openxmlformats.org/officeDocument/2006/relationships/notesSlide" Target="/ppt/notesSlides/notesSlide4.xml" Id="Rdb2c1e141d4f45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04f6f99a8491f" /><Relationship Type="http://schemas.openxmlformats.org/officeDocument/2006/relationships/notesSlide" Target="/ppt/notesSlides/notesSlide5.xml" Id="Re641d54e4a384e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5f1ef48394249" /><Relationship Type="http://schemas.openxmlformats.org/officeDocument/2006/relationships/notesSlide" Target="/ppt/notesSlides/notesSlide6.xml" Id="R8e87a3c6010e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9bdc32341410c" /><Relationship Type="http://schemas.openxmlformats.org/officeDocument/2006/relationships/notesSlide" Target="/ppt/notesSlides/notesSlide7.xml" Id="R087fa252d06447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00deffb7d4189" /><Relationship Type="http://schemas.openxmlformats.org/officeDocument/2006/relationships/notesSlide" Target="/ppt/notesSlides/notesSlide8.xml" Id="Ra5b316f5fd774a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9d195230c4c0e" /><Relationship Type="http://schemas.openxmlformats.org/officeDocument/2006/relationships/notesSlide" Target="/ppt/notesSlides/notesSlide9.xml" Id="R9868089bc6214d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494db494e4eef" /><Relationship Type="http://schemas.openxmlformats.org/officeDocument/2006/relationships/notesSlide" Target="/ppt/notesSlides/notesSlide10.xml" Id="R05875f8d917645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38bf2c2924e3f" /><Relationship Type="http://schemas.openxmlformats.org/officeDocument/2006/relationships/notesSlide" Target="/ppt/notesSlides/notesSlide11.xml" Id="R34609a0c303442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EAC49-3FFE-49D4-9413-44EBF638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TEAM NAME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C9AD4-62BF-45EA-A1D9-2ECF41C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TimeGuard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AA688-42A2-4E54-BA36-2E19B10D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7EBD2-74B7-4FF1-9989-F8E992EC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487EF-EDEC-4235-B9C8-10C9D618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303747"/>
                </a:solidFill>
              </a:defRPr>
            </a:defPPr>
            <a:lvl1pPr>
              <a:defRPr sz="4275" b="1">
                <a:solidFill>
                  <a:srgbClr val="303747"/>
                </a:solidFill>
              </a:defRPr>
            </a:lvl1pPr>
            <a:lvl2pPr>
              <a:defRPr sz="4275" b="1">
                <a:solidFill>
                  <a:srgbClr val="303747"/>
                </a:solidFill>
              </a:defRPr>
            </a:lvl2pPr>
            <a:lvl3pPr>
              <a:defRPr sz="4275" b="1">
                <a:solidFill>
                  <a:srgbClr val="303747"/>
                </a:solidFill>
              </a:defRPr>
            </a:lvl3pPr>
            <a:lvl4pPr>
              <a:defRPr sz="4275" b="1">
                <a:solidFill>
                  <a:srgbClr val="303747"/>
                </a:solidFill>
              </a:defRPr>
            </a:lvl4pPr>
            <a:lvl5pPr>
              <a:defRPr sz="4275" b="1">
                <a:solidFill>
                  <a:srgbClr val="303747"/>
                </a:solidFill>
              </a:defRPr>
            </a:lvl5pPr>
            <a:lvl6pPr>
              <a:defRPr sz="4275" b="1">
                <a:solidFill>
                  <a:srgbClr val="303747"/>
                </a:solidFill>
              </a:defRPr>
            </a:lvl6pPr>
            <a:lvl7pPr>
              <a:defRPr sz="4275" b="1">
                <a:solidFill>
                  <a:srgbClr val="303747"/>
                </a:solidFill>
              </a:defRPr>
            </a:lvl7pPr>
            <a:lvl8pPr>
              <a:defRPr sz="4275" b="1">
                <a:solidFill>
                  <a:srgbClr val="303747"/>
                </a:solidFill>
              </a:defRPr>
            </a:lvl8pPr>
            <a:lvl9pPr>
              <a:defRPr sz="427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303747"/>
                </a:solidFill>
              </a:defRPr>
            </a:pPr>
            <a:r>
              <a:rPr sz="4275" b="1">
                <a:solidFill>
                  <a:srgbClr val="303747"/>
                </a:solidFill>
              </a:rPr>
              <a:t>Predicting machine failure</a:t>
            </a:r>
          </a:p>
          <a:p xmlns:a="http://schemas.openxmlformats.org/drawingml/2006/main">
            <a:pPr>
              <a:defRPr sz="4275" b="1">
                <a:solidFill>
                  <a:srgbClr val="303747"/>
                </a:solidFill>
              </a:defRPr>
            </a:pPr>
            <a:r>
              <a:rPr sz="4275" b="1">
                <a:solidFill>
                  <a:srgbClr val="303747"/>
                </a:solidFill>
              </a:rPr>
              <a:t>from sensor streams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32D22-E2EB-4AC1-86E3-49274EC2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8B78B3"/>
                </a:solidFill>
              </a:defRPr>
            </a:defPPr>
            <a:lvl1pPr>
              <a:defRPr sz="2175" b="0">
                <a:solidFill>
                  <a:srgbClr val="8B78B3"/>
                </a:solidFill>
              </a:defRPr>
            </a:lvl1pPr>
            <a:lvl2pPr>
              <a:defRPr sz="2175" b="0">
                <a:solidFill>
                  <a:srgbClr val="8B78B3"/>
                </a:solidFill>
              </a:defRPr>
            </a:lvl2pPr>
            <a:lvl3pPr>
              <a:defRPr sz="2175" b="0">
                <a:solidFill>
                  <a:srgbClr val="8B78B3"/>
                </a:solidFill>
              </a:defRPr>
            </a:lvl3pPr>
            <a:lvl4pPr>
              <a:defRPr sz="2175" b="0">
                <a:solidFill>
                  <a:srgbClr val="8B78B3"/>
                </a:solidFill>
              </a:defRPr>
            </a:lvl4pPr>
            <a:lvl5pPr>
              <a:defRPr sz="2175" b="0">
                <a:solidFill>
                  <a:srgbClr val="8B78B3"/>
                </a:solidFill>
              </a:defRPr>
            </a:lvl5pPr>
            <a:lvl6pPr>
              <a:defRPr sz="2175" b="0">
                <a:solidFill>
                  <a:srgbClr val="8B78B3"/>
                </a:solidFill>
              </a:defRPr>
            </a:lvl6pPr>
            <a:lvl7pPr>
              <a:defRPr sz="2175" b="0">
                <a:solidFill>
                  <a:srgbClr val="8B78B3"/>
                </a:solidFill>
              </a:defRPr>
            </a:lvl7pPr>
            <a:lvl8pPr>
              <a:defRPr sz="2175" b="0">
                <a:solidFill>
                  <a:srgbClr val="8B78B3"/>
                </a:solidFill>
              </a:defRPr>
            </a:lvl8pPr>
            <a:lvl9pPr>
              <a:defRPr sz="21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8B78B3"/>
                </a:solidFill>
              </a:defRPr>
            </a:pPr>
            <a:r>
              <a:rPr sz="2175" b="0">
                <a:solidFill>
                  <a:srgbClr val="8B78B3"/>
                </a:solidFill>
              </a:rPr>
              <a:t>A maintenance window with uncertainty and a reason to 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2CF44-C51A-46B2-9C21-BD0ACCA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03747"/>
                </a:solidFill>
              </a:defRPr>
            </a:defPPr>
            <a:lvl1pPr>
              <a:defRPr sz="2325" b="1">
                <a:solidFill>
                  <a:srgbClr val="303747"/>
                </a:solidFill>
              </a:defRPr>
            </a:lvl1pPr>
            <a:lvl2pPr>
              <a:defRPr sz="2325" b="1">
                <a:solidFill>
                  <a:srgbClr val="303747"/>
                </a:solidFill>
              </a:defRPr>
            </a:lvl2pPr>
            <a:lvl3pPr>
              <a:defRPr sz="2325" b="1">
                <a:solidFill>
                  <a:srgbClr val="303747"/>
                </a:solidFill>
              </a:defRPr>
            </a:lvl3pPr>
            <a:lvl4pPr>
              <a:defRPr sz="2325" b="1">
                <a:solidFill>
                  <a:srgbClr val="303747"/>
                </a:solidFill>
              </a:defRPr>
            </a:lvl4pPr>
            <a:lvl5pPr>
              <a:defRPr sz="2325" b="1">
                <a:solidFill>
                  <a:srgbClr val="303747"/>
                </a:solidFill>
              </a:defRPr>
            </a:lvl5pPr>
            <a:lvl6pPr>
              <a:defRPr sz="2325" b="1">
                <a:solidFill>
                  <a:srgbClr val="303747"/>
                </a:solidFill>
              </a:defRPr>
            </a:lvl6pPr>
            <a:lvl7pPr>
              <a:defRPr sz="2325" b="1">
                <a:solidFill>
                  <a:srgbClr val="303747"/>
                </a:solidFill>
              </a:defRPr>
            </a:lvl7pPr>
            <a:lvl8pPr>
              <a:defRPr sz="2325" b="1">
                <a:solidFill>
                  <a:srgbClr val="303747"/>
                </a:solidFill>
              </a:defRPr>
            </a:lvl8pPr>
            <a:lvl9pPr>
              <a:defRPr sz="23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03747"/>
                </a:solidFill>
              </a:defRPr>
            </a:pPr>
            <a:r>
              <a:rPr sz="2325" b="1">
                <a:solidFill>
                  <a:srgbClr val="303747"/>
                </a:solidFill>
              </a:rPr>
              <a:t>[Insert registered team name]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C27B8-4035-4C59-B0A1-F2FB2EEB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747887"/>
                </a:solidFill>
              </a:defRPr>
            </a:defPPr>
            <a:lvl1pPr>
              <a:defRPr sz="1575" b="0">
                <a:solidFill>
                  <a:srgbClr val="747887"/>
                </a:solidFill>
              </a:defRPr>
            </a:lvl1pPr>
            <a:lvl2pPr>
              <a:defRPr sz="1575" b="0">
                <a:solidFill>
                  <a:srgbClr val="747887"/>
                </a:solidFill>
              </a:defRPr>
            </a:lvl2pPr>
            <a:lvl3pPr>
              <a:defRPr sz="1575" b="0">
                <a:solidFill>
                  <a:srgbClr val="747887"/>
                </a:solidFill>
              </a:defRPr>
            </a:lvl3pPr>
            <a:lvl4pPr>
              <a:defRPr sz="1575" b="0">
                <a:solidFill>
                  <a:srgbClr val="747887"/>
                </a:solidFill>
              </a:defRPr>
            </a:lvl4pPr>
            <a:lvl5pPr>
              <a:defRPr sz="1575" b="0">
                <a:solidFill>
                  <a:srgbClr val="747887"/>
                </a:solidFill>
              </a:defRPr>
            </a:lvl5pPr>
            <a:lvl6pPr>
              <a:defRPr sz="1575" b="0">
                <a:solidFill>
                  <a:srgbClr val="747887"/>
                </a:solidFill>
              </a:defRPr>
            </a:lvl6pPr>
            <a:lvl7pPr>
              <a:defRPr sz="1575" b="0">
                <a:solidFill>
                  <a:srgbClr val="747887"/>
                </a:solidFill>
              </a:defRPr>
            </a:lvl7pPr>
            <a:lvl8pPr>
              <a:defRPr sz="1575" b="0">
                <a:solidFill>
                  <a:srgbClr val="747887"/>
                </a:solidFill>
              </a:defRPr>
            </a:lvl8pPr>
            <a:lvl9pPr>
              <a:defRPr sz="15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7887"/>
                </a:solidFill>
              </a:defRPr>
            </a:pPr>
            <a:r>
              <a:rPr sz="1575" b="0">
                <a:solidFill>
                  <a:srgbClr val="747887"/>
                </a:solidFill>
              </a:rPr>
              <a:t>Stage 1 ·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68722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52BD1-2063-4A83-8AAD-71651222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02 / PEOPLE AND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4DF92-135B-416D-BA58-C3FE7B6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Team members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A5A3F-52A7-48CA-BD46-0251829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AC908-F2F6-4050-8199-6A4FA24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EE6CC-5CC8-4417-AA90-CA1CD507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D62DF-79A6-4D0C-97FF-4215F43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38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RUL modeling and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B9B3B-ECD7-4B29-A03D-25E8694A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B2375-8F06-4D10-BE22-4C238846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432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Data pipeline and stream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D419B-EF55-4617-BCC0-807D3205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3]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CAC50-201E-44E0-BECC-97C362F8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Interface and visual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8E152-3F0A-441B-9426-8EB5955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4]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C3CBC-F7C2-41E5-A76F-1544846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529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Integration, evidence and pitch</a:t>
            </a:r>
          </a:p>
        </p:txBody>
      </p:sp>
    </p:spTree>
    <p:extLst>
      <p:ext uri="{BB962C8B-B14F-4D97-AF65-F5344CB8AC3E}">
        <p14:creationId xmlns:p14="http://schemas.microsoft.com/office/powerpoint/2010/main" val="766816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704C7-B7AC-4468-8401-EBA5745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03 / CHALLENGE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CFB3D-656A-48C5-BB75-51F32DE7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Selected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C90DD-6706-43B9-8D08-EE7B235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3C808-0280-4618-90C5-4340F641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8C7DB-E7A2-48C6-BDA3-1EBF37C2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8B78B3"/>
                </a:solidFill>
              </a:defRPr>
            </a:defPPr>
            <a:lvl1pPr>
              <a:defRPr sz="4350" b="1">
                <a:solidFill>
                  <a:srgbClr val="8B78B3"/>
                </a:solidFill>
              </a:defRPr>
            </a:lvl1pPr>
            <a:lvl2pPr>
              <a:defRPr sz="4350" b="1">
                <a:solidFill>
                  <a:srgbClr val="8B78B3"/>
                </a:solidFill>
              </a:defRPr>
            </a:lvl2pPr>
            <a:lvl3pPr>
              <a:defRPr sz="4350" b="1">
                <a:solidFill>
                  <a:srgbClr val="8B78B3"/>
                </a:solidFill>
              </a:defRPr>
            </a:lvl3pPr>
            <a:lvl4pPr>
              <a:defRPr sz="4350" b="1">
                <a:solidFill>
                  <a:srgbClr val="8B78B3"/>
                </a:solidFill>
              </a:defRPr>
            </a:lvl4pPr>
            <a:lvl5pPr>
              <a:defRPr sz="4350" b="1">
                <a:solidFill>
                  <a:srgbClr val="8B78B3"/>
                </a:solidFill>
              </a:defRPr>
            </a:lvl5pPr>
            <a:lvl6pPr>
              <a:defRPr sz="4350" b="1">
                <a:solidFill>
                  <a:srgbClr val="8B78B3"/>
                </a:solidFill>
              </a:defRPr>
            </a:lvl6pPr>
            <a:lvl7pPr>
              <a:defRPr sz="4350" b="1">
                <a:solidFill>
                  <a:srgbClr val="8B78B3"/>
                </a:solidFill>
              </a:defRPr>
            </a:lvl7pPr>
            <a:lvl8pPr>
              <a:defRPr sz="4350" b="1">
                <a:solidFill>
                  <a:srgbClr val="8B78B3"/>
                </a:solidFill>
              </a:defRPr>
            </a:lvl8pPr>
            <a:lvl9pPr>
              <a:defRPr sz="43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8B78B3"/>
                </a:solidFill>
              </a:defRPr>
            </a:pPr>
            <a:r>
              <a:rPr sz="4350" b="1">
                <a:solidFill>
                  <a:srgbClr val="8B78B3"/>
                </a:solidFill>
              </a:rPr>
              <a:t>Track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4A5C7-4FF8-4C1B-9876-F6468AE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747"/>
                </a:solidFill>
              </a:defRPr>
            </a:defPPr>
            <a:lvl1pPr>
              <a:defRPr sz="3000" b="0">
                <a:solidFill>
                  <a:srgbClr val="303747"/>
                </a:solidFill>
              </a:defRPr>
            </a:lvl1pPr>
            <a:lvl2pPr>
              <a:defRPr sz="3000" b="0">
                <a:solidFill>
                  <a:srgbClr val="303747"/>
                </a:solidFill>
              </a:defRPr>
            </a:lvl2pPr>
            <a:lvl3pPr>
              <a:defRPr sz="3000" b="0">
                <a:solidFill>
                  <a:srgbClr val="303747"/>
                </a:solidFill>
              </a:defRPr>
            </a:lvl3pPr>
            <a:lvl4pPr>
              <a:defRPr sz="3000" b="0">
                <a:solidFill>
                  <a:srgbClr val="303747"/>
                </a:solidFill>
              </a:defRPr>
            </a:lvl4pPr>
            <a:lvl5pPr>
              <a:defRPr sz="3000" b="0">
                <a:solidFill>
                  <a:srgbClr val="303747"/>
                </a:solidFill>
              </a:defRPr>
            </a:lvl5pPr>
            <a:lvl6pPr>
              <a:defRPr sz="3000" b="0">
                <a:solidFill>
                  <a:srgbClr val="303747"/>
                </a:solidFill>
              </a:defRPr>
            </a:lvl6pPr>
            <a:lvl7pPr>
              <a:defRPr sz="3000" b="0">
                <a:solidFill>
                  <a:srgbClr val="303747"/>
                </a:solidFill>
              </a:defRPr>
            </a:lvl7pPr>
            <a:lvl8pPr>
              <a:defRPr sz="3000" b="0">
                <a:solidFill>
                  <a:srgbClr val="303747"/>
                </a:solidFill>
              </a:defRPr>
            </a:lvl8pPr>
            <a:lvl9pPr>
              <a:defRPr sz="30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03747"/>
                </a:solidFill>
              </a:defRPr>
            </a:pPr>
            <a:r>
              <a:rPr sz="3000" b="0">
                <a:solidFill>
                  <a:srgbClr val="303747"/>
                </a:solidFill>
              </a:rPr>
              <a:t>AI/ML Methodology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9689C-B805-4129-9F28-FC95A32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303747"/>
                </a:solidFill>
              </a:defRPr>
            </a:defPPr>
            <a:lvl1pPr>
              <a:defRPr sz="2925" b="1">
                <a:solidFill>
                  <a:srgbClr val="303747"/>
                </a:solidFill>
              </a:defRPr>
            </a:lvl1pPr>
            <a:lvl2pPr>
              <a:defRPr sz="2925" b="1">
                <a:solidFill>
                  <a:srgbClr val="303747"/>
                </a:solidFill>
              </a:defRPr>
            </a:lvl2pPr>
            <a:lvl3pPr>
              <a:defRPr sz="2925" b="1">
                <a:solidFill>
                  <a:srgbClr val="303747"/>
                </a:solidFill>
              </a:defRPr>
            </a:lvl3pPr>
            <a:lvl4pPr>
              <a:defRPr sz="2925" b="1">
                <a:solidFill>
                  <a:srgbClr val="303747"/>
                </a:solidFill>
              </a:defRPr>
            </a:lvl4pPr>
            <a:lvl5pPr>
              <a:defRPr sz="2925" b="1">
                <a:solidFill>
                  <a:srgbClr val="303747"/>
                </a:solidFill>
              </a:defRPr>
            </a:lvl5pPr>
            <a:lvl6pPr>
              <a:defRPr sz="2925" b="1">
                <a:solidFill>
                  <a:srgbClr val="303747"/>
                </a:solidFill>
              </a:defRPr>
            </a:lvl6pPr>
            <a:lvl7pPr>
              <a:defRPr sz="2925" b="1">
                <a:solidFill>
                  <a:srgbClr val="303747"/>
                </a:solidFill>
              </a:defRPr>
            </a:lvl7pPr>
            <a:lvl8pPr>
              <a:defRPr sz="2925" b="1">
                <a:solidFill>
                  <a:srgbClr val="303747"/>
                </a:solidFill>
              </a:defRPr>
            </a:lvl8pPr>
            <a:lvl9pPr>
              <a:defRPr sz="29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303747"/>
                </a:solidFill>
              </a:defRPr>
            </a:pPr>
            <a:r>
              <a:rPr sz="2925" b="1">
                <a:solidFill>
                  <a:srgbClr val="303747"/>
                </a:solidFill>
              </a:rPr>
              <a:t>Challenge 10: TimeGuard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B2C10-38BA-4F29-9878-82DBCD1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3747"/>
                </a:solidFill>
              </a:defRPr>
            </a:defPPr>
            <a:lvl1pPr>
              <a:defRPr sz="2250" b="0">
                <a:solidFill>
                  <a:srgbClr val="303747"/>
                </a:solidFill>
              </a:defRPr>
            </a:lvl1pPr>
            <a:lvl2pPr>
              <a:defRPr sz="2250" b="0">
                <a:solidFill>
                  <a:srgbClr val="303747"/>
                </a:solidFill>
              </a:defRPr>
            </a:lvl2pPr>
            <a:lvl3pPr>
              <a:defRPr sz="2250" b="0">
                <a:solidFill>
                  <a:srgbClr val="303747"/>
                </a:solidFill>
              </a:defRPr>
            </a:lvl3pPr>
            <a:lvl4pPr>
              <a:defRPr sz="2250" b="0">
                <a:solidFill>
                  <a:srgbClr val="303747"/>
                </a:solidFill>
              </a:defRPr>
            </a:lvl4pPr>
            <a:lvl5pPr>
              <a:defRPr sz="2250" b="0">
                <a:solidFill>
                  <a:srgbClr val="303747"/>
                </a:solidFill>
              </a:defRPr>
            </a:lvl5pPr>
            <a:lvl6pPr>
              <a:defRPr sz="2250" b="0">
                <a:solidFill>
                  <a:srgbClr val="303747"/>
                </a:solidFill>
              </a:defRPr>
            </a:lvl6pPr>
            <a:lvl7pPr>
              <a:defRPr sz="2250" b="0">
                <a:solidFill>
                  <a:srgbClr val="303747"/>
                </a:solidFill>
              </a:defRPr>
            </a:lvl7pPr>
            <a:lvl8pPr>
              <a:defRPr sz="2250" b="0">
                <a:solidFill>
                  <a:srgbClr val="303747"/>
                </a:solidFill>
              </a:defRPr>
            </a:lvl8pPr>
            <a:lvl9pPr>
              <a:defRPr sz="225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3747"/>
                </a:solidFill>
              </a:defRPr>
            </a:pPr>
            <a:r>
              <a:rPr sz="2250" b="0">
                <a:solidFill>
                  <a:srgbClr val="303747"/>
                </a:solidFill>
              </a:rPr>
              <a:t>Predicting Machine Failure from Sensor Streams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2157C-761D-4229-A15F-8ED6FA9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47887"/>
                </a:solidFill>
              </a:defRPr>
            </a:defPPr>
            <a:lvl1pPr>
              <a:defRPr sz="1650" b="0">
                <a:solidFill>
                  <a:srgbClr val="747887"/>
                </a:solidFill>
              </a:defRPr>
            </a:lvl1pPr>
            <a:lvl2pPr>
              <a:defRPr sz="1650" b="0">
                <a:solidFill>
                  <a:srgbClr val="747887"/>
                </a:solidFill>
              </a:defRPr>
            </a:lvl2pPr>
            <a:lvl3pPr>
              <a:defRPr sz="1650" b="0">
                <a:solidFill>
                  <a:srgbClr val="747887"/>
                </a:solidFill>
              </a:defRPr>
            </a:lvl3pPr>
            <a:lvl4pPr>
              <a:defRPr sz="1650" b="0">
                <a:solidFill>
                  <a:srgbClr val="747887"/>
                </a:solidFill>
              </a:defRPr>
            </a:lvl4pPr>
            <a:lvl5pPr>
              <a:defRPr sz="1650" b="0">
                <a:solidFill>
                  <a:srgbClr val="747887"/>
                </a:solidFill>
              </a:defRPr>
            </a:lvl5pPr>
            <a:lvl6pPr>
              <a:defRPr sz="1650" b="0">
                <a:solidFill>
                  <a:srgbClr val="747887"/>
                </a:solidFill>
              </a:defRPr>
            </a:lvl6pPr>
            <a:lvl7pPr>
              <a:defRPr sz="1650" b="0">
                <a:solidFill>
                  <a:srgbClr val="747887"/>
                </a:solidFill>
              </a:defRPr>
            </a:lvl7pPr>
            <a:lvl8pPr>
              <a:defRPr sz="1650" b="0">
                <a:solidFill>
                  <a:srgbClr val="747887"/>
                </a:solidFill>
              </a:defRPr>
            </a:lvl8pPr>
            <a:lvl9pPr>
              <a:defRPr sz="1650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47887"/>
                </a:solidFill>
              </a:defRPr>
            </a:pPr>
            <a:r>
              <a:rPr sz="1650" b="0">
                <a:solidFill>
                  <a:srgbClr val="747887"/>
                </a:solidFill>
              </a:rPr>
              <a:t>Difficulty: Intermediate to Advanced</a:t>
            </a:r>
          </a:p>
        </p:txBody>
      </p:sp>
    </p:spTree>
    <p:extLst>
      <p:ext uri="{BB962C8B-B14F-4D97-AF65-F5344CB8AC3E}">
        <p14:creationId xmlns:p14="http://schemas.microsoft.com/office/powerpoint/2010/main" val="875903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DAE49-8FA2-4164-8469-E7E78FE0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04 / INDUSTRIAL PAIN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C08FA-0281-495E-93B9-4B17BF02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Problem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B5948-07B0-4D99-AD91-74A42148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9F047-49AF-48E0-BAC0-8E030C42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02E6F-EA19-4B11-A0EB-76AF260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Late warnings are costly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A0EB9-38D1-462E-AC7E-02975A8A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Overestimated remaining life delays intervention until an avoidable outage. A low average error can hide expensive late predictions.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2582A-6C44-4B97-8615-0F746FF1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Repeated alerts erode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BE4F7-2E16-4D98-9E52-FB11F0EC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Noisy sensors and short spikes create alert fatigue. Operators need persistent evidence and a useful maintenance horizon.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0FC28-CB8C-45B7-9B31-16944937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B78B3"/>
                </a:solidFill>
              </a:defRPr>
            </a:defPPr>
            <a:lvl1pPr>
              <a:defRPr sz="2175" b="1">
                <a:solidFill>
                  <a:srgbClr val="8B78B3"/>
                </a:solidFill>
              </a:defRPr>
            </a:lvl1pPr>
            <a:lvl2pPr>
              <a:defRPr sz="2175" b="1">
                <a:solidFill>
                  <a:srgbClr val="8B78B3"/>
                </a:solidFill>
              </a:defRPr>
            </a:lvl2pPr>
            <a:lvl3pPr>
              <a:defRPr sz="2175" b="1">
                <a:solidFill>
                  <a:srgbClr val="8B78B3"/>
                </a:solidFill>
              </a:defRPr>
            </a:lvl3pPr>
            <a:lvl4pPr>
              <a:defRPr sz="2175" b="1">
                <a:solidFill>
                  <a:srgbClr val="8B78B3"/>
                </a:solidFill>
              </a:defRPr>
            </a:lvl4pPr>
            <a:lvl5pPr>
              <a:defRPr sz="2175" b="1">
                <a:solidFill>
                  <a:srgbClr val="8B78B3"/>
                </a:solidFill>
              </a:defRPr>
            </a:lvl5pPr>
            <a:lvl6pPr>
              <a:defRPr sz="2175" b="1">
                <a:solidFill>
                  <a:srgbClr val="8B78B3"/>
                </a:solidFill>
              </a:defRPr>
            </a:lvl6pPr>
            <a:lvl7pPr>
              <a:defRPr sz="2175" b="1">
                <a:solidFill>
                  <a:srgbClr val="8B78B3"/>
                </a:solidFill>
              </a:defRPr>
            </a:lvl7pPr>
            <a:lvl8pPr>
              <a:defRPr sz="2175" b="1">
                <a:solidFill>
                  <a:srgbClr val="8B78B3"/>
                </a:solidFill>
              </a:defRPr>
            </a:lvl8pPr>
            <a:lvl9pPr>
              <a:defRPr sz="217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B78B3"/>
                </a:solidFill>
              </a:defRPr>
            </a:pPr>
            <a:r>
              <a:rPr sz="2175" b="1">
                <a:solidFill>
                  <a:srgbClr val="8B78B3"/>
                </a:solidFill>
              </a:rPr>
              <a:t>Drift, missing packets and operating changes can invalidate a confident forecast.</a:t>
            </a:r>
          </a:p>
        </p:txBody>
      </p:sp>
    </p:spTree>
    <p:extLst>
      <p:ext uri="{BB962C8B-B14F-4D97-AF65-F5344CB8AC3E}">
        <p14:creationId xmlns:p14="http://schemas.microsoft.com/office/powerpoint/2010/main" val="974881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BC6AB-605C-43B7-81A8-EC2E3777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05 / OPERATOR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F9FAA-7073-4398-AF32-E9951C8D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551FD-12DC-4536-A298-E71440E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9553C-CA75-4D2B-A39B-632E1BD6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E3C8B-CB90-4337-9C24-13065FF3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 range for maintenance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B8812-7200-43BD-BA96-238EA5DC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Forecast remaining useful life, show a prediction interval, and require persistent threshold crossings before escalating a maintenance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A717A-41E0-43B9-A846-2BC5E213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Evidence for an operator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B1DE2-9959-46A3-9DFF-E00825A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Explain sensor contributions, preserve telemetry freshness, and request review when the input leaves its validated envelope.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8647D-2BC4-4FCC-89CC-C23B973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Live replay, perturbation controls and export make the concept demonstrable with zero hardware.</a:t>
            </a:r>
          </a:p>
        </p:txBody>
      </p:sp>
    </p:spTree>
    <p:extLst>
      <p:ext uri="{BB962C8B-B14F-4D97-AF65-F5344CB8AC3E}">
        <p14:creationId xmlns:p14="http://schemas.microsoft.com/office/powerpoint/2010/main" val="72478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1B9F8-BA9E-4D02-A62B-7D4A9414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06 /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F5273-115D-4D4A-9C34-FE0245C2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Innovation / novelty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D98B1-C360-4A71-8BEB-32392E8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F399A-C8A3-4C8E-8E1B-91682C17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2B0E9-255C-4A7F-97DE-BEF59532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Asymmetric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473CF-FFB1-4A57-B722-AA41ADED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716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A lower decision quantile reflects a higher cost for late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729E0-B0AA-4CCA-9C98-9597EEF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Measured 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EB20A-8AB3-4B70-970E-26A5A7F0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33700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Conformal calibration reports coverage together with interval width.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4B3D4-D149-4BFB-8FCD-A81695F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Actionable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FE2BE-5471-40DD-8FAA-4AA34DF5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95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Local model attribution connects the forecast to observed sensor trends.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F434E-E75F-447C-8FE9-82CF8FD4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Quality-aware alerts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70BC4-B794-4456-AA70-7C68581B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57750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Persistence, hysteresis and review states control alert fatigue.</a:t>
            </a:r>
          </a:p>
        </p:txBody>
      </p:sp>
    </p:spTree>
    <p:extLst>
      <p:ext uri="{BB962C8B-B14F-4D97-AF65-F5344CB8AC3E}">
        <p14:creationId xmlns:p14="http://schemas.microsoft.com/office/powerpoint/2010/main" val="482189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1EEF8-3A1C-48E3-81D5-32981EB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07 / MODELS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49B9E-2F18-48A5-A654-AA07EFC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Proposed technology / AI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F16BC-7213-480B-A30C-A294B625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F78A3-8973-4EA9-9FD1-1234968F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A6CB2-E5C6-4647-953C-EEB8DD2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C-MAPSS: sequential RUL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31CF1-5081-4B53-9734-0DB7D94D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30-cycle causal EMA windows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Trailing moments and slopes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Boosted 5th / 50th / 95th quantiles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Held-out engine calibration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FB1EB-7673-412E-87AA-42DB99B8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AI4I: separate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64B75-E13F-47A4-ADE1-91B206D4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Physical process and type inputs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Binary failure + five mode labels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Balanced random forests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No IDs or target labels as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C4442-F6B8-4CBB-BC8D-70DCC30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Decision quantile τ = 0.20 for an illustrative 4:1 late-to-early cost ratio. RUL training cap: 125 cycles.</a:t>
            </a:r>
          </a:p>
        </p:txBody>
      </p:sp>
    </p:spTree>
    <p:extLst>
      <p:ext uri="{BB962C8B-B14F-4D97-AF65-F5344CB8AC3E}">
        <p14:creationId xmlns:p14="http://schemas.microsoft.com/office/powerpoint/2010/main" val="963558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AD817-56A7-457E-83E6-95D53BAE53D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752600" y="2952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0B333-9FDF-41A8-9753-957D13526BF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95600" y="44291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96055-CF0B-4DC3-AA38-5576D5B0C3A8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810250" y="44291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48F21-0559-4E84-8D6A-68499C49B03F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724900" y="44291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16D84-238B-46B1-870F-EDA3BBFC726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0472738" y="2952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A77FE-FA8F-45EE-B115-58AF355B635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24900" y="2476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DFCCF-88AF-4339-A5AB-E526A11CEAC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476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B93C4-7C1D-4BAD-B9CF-D953BC7653B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95600" y="2476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43456-0816-43D0-A320-0F695B0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08 / END-TO-END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3D6CF-2DA8-43F7-A62A-DED026A9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Technical approach flowchart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3D415-BB58-47F2-917D-8AFBD92F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982E8-3E89-4180-8A64-4F3AAA6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6EBA8-6F55-4B6E-936A-1ECD74D7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Engine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telemetry prefix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BDA85-3199-41BF-AA0E-873DE8C8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1E9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Validate +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causal 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DCA86-69C1-442D-BF47-E570DF6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6DB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Quantile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RUL forecasts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C4270-E028-41FA-A8ED-6182D76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238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EED6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Held-out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calibration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C1116-2308-4B96-BD9E-27DBA894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Local TreeSHAP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sensor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ABECC-F0E6-4383-A678-1F72912D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3F1E9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Operator review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and evidence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FE6A0-7D68-47A0-AAF9-EF44C688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E6DB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Quality gate +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persistent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04FCE-E77B-40E9-B9DC-BF25014D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0525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EED6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Calibrated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RUL interval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5B3AE-E507-4992-ABBA-0B39C9AB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47887"/>
                </a:solidFill>
              </a:defRPr>
            </a:defPPr>
            <a:lvl1pPr>
              <a:defRPr sz="1650" b="0">
                <a:solidFill>
                  <a:srgbClr val="747887"/>
                </a:solidFill>
              </a:defRPr>
            </a:lvl1pPr>
            <a:lvl2pPr>
              <a:defRPr sz="1650" b="0">
                <a:solidFill>
                  <a:srgbClr val="747887"/>
                </a:solidFill>
              </a:defRPr>
            </a:lvl2pPr>
            <a:lvl3pPr>
              <a:defRPr sz="1650" b="0">
                <a:solidFill>
                  <a:srgbClr val="747887"/>
                </a:solidFill>
              </a:defRPr>
            </a:lvl3pPr>
            <a:lvl4pPr>
              <a:defRPr sz="1650" b="0">
                <a:solidFill>
                  <a:srgbClr val="747887"/>
                </a:solidFill>
              </a:defRPr>
            </a:lvl4pPr>
            <a:lvl5pPr>
              <a:defRPr sz="1650" b="0">
                <a:solidFill>
                  <a:srgbClr val="747887"/>
                </a:solidFill>
              </a:defRPr>
            </a:lvl5pPr>
            <a:lvl6pPr>
              <a:defRPr sz="1650" b="0">
                <a:solidFill>
                  <a:srgbClr val="747887"/>
                </a:solidFill>
              </a:defRPr>
            </a:lvl6pPr>
            <a:lvl7pPr>
              <a:defRPr sz="1650" b="0">
                <a:solidFill>
                  <a:srgbClr val="747887"/>
                </a:solidFill>
              </a:defRPr>
            </a:lvl7pPr>
            <a:lvl8pPr>
              <a:defRPr sz="1650" b="0">
                <a:solidFill>
                  <a:srgbClr val="747887"/>
                </a:solidFill>
              </a:defRPr>
            </a:lvl8pPr>
            <a:lvl9pPr>
              <a:defRPr sz="1650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47887"/>
                </a:solidFill>
              </a:defRPr>
            </a:pPr>
            <a:r>
              <a:rPr sz="1650" b="0">
                <a:solidFill>
                  <a:srgbClr val="747887"/>
                </a:solidFill>
              </a:rPr>
              <a:t>Separate AI4I branch: manufacturing snapshot → binary failure + multilabel modes → diagnosis workbench</a:t>
            </a:r>
          </a:p>
        </p:txBody>
      </p:sp>
    </p:spTree>
    <p:extLst>
      <p:ext uri="{BB962C8B-B14F-4D97-AF65-F5344CB8AC3E}">
        <p14:creationId xmlns:p14="http://schemas.microsoft.com/office/powerpoint/2010/main" val="328414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314A6-525F-498B-8193-10225D61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09 / TARGETS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06956-5E95-4B1F-9A87-927B436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2E917-6590-43FB-B840-C2A2B1A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0A2C2-5BF9-41B9-9583-7F2CB354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AEA58-19D8-4B69-8D86-1A31F360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8B78B3"/>
                </a:solidFill>
              </a:defRPr>
            </a:defPPr>
            <a:lvl1pPr>
              <a:defRPr sz="5400" b="1">
                <a:solidFill>
                  <a:srgbClr val="8B78B3"/>
                </a:solidFill>
              </a:defRPr>
            </a:lvl1pPr>
            <a:lvl2pPr>
              <a:defRPr sz="5400" b="1">
                <a:solidFill>
                  <a:srgbClr val="8B78B3"/>
                </a:solidFill>
              </a:defRPr>
            </a:lvl2pPr>
            <a:lvl3pPr>
              <a:defRPr sz="5400" b="1">
                <a:solidFill>
                  <a:srgbClr val="8B78B3"/>
                </a:solidFill>
              </a:defRPr>
            </a:lvl3pPr>
            <a:lvl4pPr>
              <a:defRPr sz="5400" b="1">
                <a:solidFill>
                  <a:srgbClr val="8B78B3"/>
                </a:solidFill>
              </a:defRPr>
            </a:lvl4pPr>
            <a:lvl5pPr>
              <a:defRPr sz="5400" b="1">
                <a:solidFill>
                  <a:srgbClr val="8B78B3"/>
                </a:solidFill>
              </a:defRPr>
            </a:lvl5pPr>
            <a:lvl6pPr>
              <a:defRPr sz="5400" b="1">
                <a:solidFill>
                  <a:srgbClr val="8B78B3"/>
                </a:solidFill>
              </a:defRPr>
            </a:lvl6pPr>
            <a:lvl7pPr>
              <a:defRPr sz="5400" b="1">
                <a:solidFill>
                  <a:srgbClr val="8B78B3"/>
                </a:solidFill>
              </a:defRPr>
            </a:lvl7pPr>
            <a:lvl8pPr>
              <a:defRPr sz="5400" b="1">
                <a:solidFill>
                  <a:srgbClr val="8B78B3"/>
                </a:solidFill>
              </a:defRPr>
            </a:lvl8pPr>
            <a:lvl9pPr>
              <a:defRPr sz="54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8B78B3"/>
                </a:solidFill>
              </a:defRPr>
            </a:pPr>
            <a:r>
              <a:rPr sz="5400" b="1">
                <a:solidFill>
                  <a:srgbClr val="8B78B3"/>
                </a:solidFill>
              </a:rPr>
              <a:t>20%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12E58-5A38-4C99-B861-8293AF7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747"/>
                </a:solidFill>
              </a:defRPr>
            </a:defPPr>
            <a:lvl1pPr>
              <a:defRPr sz="1800" b="0">
                <a:solidFill>
                  <a:srgbClr val="303747"/>
                </a:solidFill>
              </a:defRPr>
            </a:lvl1pPr>
            <a:lvl2pPr>
              <a:defRPr sz="1800" b="0">
                <a:solidFill>
                  <a:srgbClr val="303747"/>
                </a:solidFill>
              </a:defRPr>
            </a:lvl2pPr>
            <a:lvl3pPr>
              <a:defRPr sz="1800" b="0">
                <a:solidFill>
                  <a:srgbClr val="303747"/>
                </a:solidFill>
              </a:defRPr>
            </a:lvl3pPr>
            <a:lvl4pPr>
              <a:defRPr sz="1800" b="0">
                <a:solidFill>
                  <a:srgbClr val="303747"/>
                </a:solidFill>
              </a:defRPr>
            </a:lvl4pPr>
            <a:lvl5pPr>
              <a:defRPr sz="1800" b="0">
                <a:solidFill>
                  <a:srgbClr val="303747"/>
                </a:solidFill>
              </a:defRPr>
            </a:lvl5pPr>
            <a:lvl6pPr>
              <a:defRPr sz="1800" b="0">
                <a:solidFill>
                  <a:srgbClr val="303747"/>
                </a:solidFill>
              </a:defRPr>
            </a:lvl6pPr>
            <a:lvl7pPr>
              <a:defRPr sz="1800" b="0">
                <a:solidFill>
                  <a:srgbClr val="303747"/>
                </a:solidFill>
              </a:defRPr>
            </a:lvl7pPr>
            <a:lvl8pPr>
              <a:defRPr sz="1800" b="0">
                <a:solidFill>
                  <a:srgbClr val="303747"/>
                </a:solidFill>
              </a:defRPr>
            </a:lvl8pPr>
            <a:lvl9pPr>
              <a:defRPr sz="18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Target reduction in simulated</a:t>
            </a:r>
          </a:p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decision cost versus a tuned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F5D62-3D07-4368-BDDF-8BDDCC9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8B78B3"/>
                </a:solidFill>
              </a:defRPr>
            </a:defPPr>
            <a:lvl1pPr>
              <a:defRPr sz="5400" b="1">
                <a:solidFill>
                  <a:srgbClr val="8B78B3"/>
                </a:solidFill>
              </a:defRPr>
            </a:lvl1pPr>
            <a:lvl2pPr>
              <a:defRPr sz="5400" b="1">
                <a:solidFill>
                  <a:srgbClr val="8B78B3"/>
                </a:solidFill>
              </a:defRPr>
            </a:lvl2pPr>
            <a:lvl3pPr>
              <a:defRPr sz="5400" b="1">
                <a:solidFill>
                  <a:srgbClr val="8B78B3"/>
                </a:solidFill>
              </a:defRPr>
            </a:lvl3pPr>
            <a:lvl4pPr>
              <a:defRPr sz="5400" b="1">
                <a:solidFill>
                  <a:srgbClr val="8B78B3"/>
                </a:solidFill>
              </a:defRPr>
            </a:lvl4pPr>
            <a:lvl5pPr>
              <a:defRPr sz="5400" b="1">
                <a:solidFill>
                  <a:srgbClr val="8B78B3"/>
                </a:solidFill>
              </a:defRPr>
            </a:lvl5pPr>
            <a:lvl6pPr>
              <a:defRPr sz="5400" b="1">
                <a:solidFill>
                  <a:srgbClr val="8B78B3"/>
                </a:solidFill>
              </a:defRPr>
            </a:lvl6pPr>
            <a:lvl7pPr>
              <a:defRPr sz="5400" b="1">
                <a:solidFill>
                  <a:srgbClr val="8B78B3"/>
                </a:solidFill>
              </a:defRPr>
            </a:lvl7pPr>
            <a:lvl8pPr>
              <a:defRPr sz="5400" b="1">
                <a:solidFill>
                  <a:srgbClr val="8B78B3"/>
                </a:solidFill>
              </a:defRPr>
            </a:lvl8pPr>
            <a:lvl9pPr>
              <a:defRPr sz="54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8B78B3"/>
                </a:solidFill>
              </a:defRPr>
            </a:pPr>
            <a:r>
              <a:rPr sz="5400" b="1">
                <a:solidFill>
                  <a:srgbClr val="8B78B3"/>
                </a:solidFill>
              </a:rPr>
              <a:t>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2AF9A-3263-4D46-9E70-4D98A4E4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747"/>
                </a:solidFill>
              </a:defRPr>
            </a:defPPr>
            <a:lvl1pPr>
              <a:defRPr sz="1800" b="0">
                <a:solidFill>
                  <a:srgbClr val="303747"/>
                </a:solidFill>
              </a:defRPr>
            </a:lvl1pPr>
            <a:lvl2pPr>
              <a:defRPr sz="1800" b="0">
                <a:solidFill>
                  <a:srgbClr val="303747"/>
                </a:solidFill>
              </a:defRPr>
            </a:lvl2pPr>
            <a:lvl3pPr>
              <a:defRPr sz="1800" b="0">
                <a:solidFill>
                  <a:srgbClr val="303747"/>
                </a:solidFill>
              </a:defRPr>
            </a:lvl3pPr>
            <a:lvl4pPr>
              <a:defRPr sz="1800" b="0">
                <a:solidFill>
                  <a:srgbClr val="303747"/>
                </a:solidFill>
              </a:defRPr>
            </a:lvl4pPr>
            <a:lvl5pPr>
              <a:defRPr sz="1800" b="0">
                <a:solidFill>
                  <a:srgbClr val="303747"/>
                </a:solidFill>
              </a:defRPr>
            </a:lvl5pPr>
            <a:lvl6pPr>
              <a:defRPr sz="1800" b="0">
                <a:solidFill>
                  <a:srgbClr val="303747"/>
                </a:solidFill>
              </a:defRPr>
            </a:lvl6pPr>
            <a:lvl7pPr>
              <a:defRPr sz="1800" b="0">
                <a:solidFill>
                  <a:srgbClr val="303747"/>
                </a:solidFill>
              </a:defRPr>
            </a:lvl7pPr>
            <a:lvl8pPr>
              <a:defRPr sz="1800" b="0">
                <a:solidFill>
                  <a:srgbClr val="303747"/>
                </a:solidFill>
              </a:defRPr>
            </a:lvl8pPr>
            <a:lvl9pPr>
              <a:defRPr sz="18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Nominal interval coverage</a:t>
            </a:r>
          </a:p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with measured width and assumptions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E353A-E45E-4FD2-AC2D-BF70BDEE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8B78B3"/>
                </a:solidFill>
              </a:defRPr>
            </a:defPPr>
            <a:lvl1pPr>
              <a:defRPr sz="4875" b="1">
                <a:solidFill>
                  <a:srgbClr val="8B78B3"/>
                </a:solidFill>
              </a:defRPr>
            </a:lvl1pPr>
            <a:lvl2pPr>
              <a:defRPr sz="4875" b="1">
                <a:solidFill>
                  <a:srgbClr val="8B78B3"/>
                </a:solidFill>
              </a:defRPr>
            </a:lvl2pPr>
            <a:lvl3pPr>
              <a:defRPr sz="4875" b="1">
                <a:solidFill>
                  <a:srgbClr val="8B78B3"/>
                </a:solidFill>
              </a:defRPr>
            </a:lvl3pPr>
            <a:lvl4pPr>
              <a:defRPr sz="4875" b="1">
                <a:solidFill>
                  <a:srgbClr val="8B78B3"/>
                </a:solidFill>
              </a:defRPr>
            </a:lvl4pPr>
            <a:lvl5pPr>
              <a:defRPr sz="4875" b="1">
                <a:solidFill>
                  <a:srgbClr val="8B78B3"/>
                </a:solidFill>
              </a:defRPr>
            </a:lvl5pPr>
            <a:lvl6pPr>
              <a:defRPr sz="4875" b="1">
                <a:solidFill>
                  <a:srgbClr val="8B78B3"/>
                </a:solidFill>
              </a:defRPr>
            </a:lvl6pPr>
            <a:lvl7pPr>
              <a:defRPr sz="4875" b="1">
                <a:solidFill>
                  <a:srgbClr val="8B78B3"/>
                </a:solidFill>
              </a:defRPr>
            </a:lvl7pPr>
            <a:lvl8pPr>
              <a:defRPr sz="4875" b="1">
                <a:solidFill>
                  <a:srgbClr val="8B78B3"/>
                </a:solidFill>
              </a:defRPr>
            </a:lvl8pPr>
            <a:lvl9pPr>
              <a:defRPr sz="487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8B78B3"/>
                </a:solidFill>
              </a:defRPr>
            </a:pPr>
            <a:r>
              <a:rPr sz="4875" b="1">
                <a:solidFill>
                  <a:srgbClr val="8B78B3"/>
                </a:solidFill>
              </a:rPr>
              <a:t>&lt;100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DFDE3-19CC-46DD-9BCE-DF5C3725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747"/>
                </a:solidFill>
              </a:defRPr>
            </a:defPPr>
            <a:lvl1pPr>
              <a:defRPr sz="1800" b="0">
                <a:solidFill>
                  <a:srgbClr val="303747"/>
                </a:solidFill>
              </a:defRPr>
            </a:lvl1pPr>
            <a:lvl2pPr>
              <a:defRPr sz="1800" b="0">
                <a:solidFill>
                  <a:srgbClr val="303747"/>
                </a:solidFill>
              </a:defRPr>
            </a:lvl2pPr>
            <a:lvl3pPr>
              <a:defRPr sz="1800" b="0">
                <a:solidFill>
                  <a:srgbClr val="303747"/>
                </a:solidFill>
              </a:defRPr>
            </a:lvl3pPr>
            <a:lvl4pPr>
              <a:defRPr sz="1800" b="0">
                <a:solidFill>
                  <a:srgbClr val="303747"/>
                </a:solidFill>
              </a:defRPr>
            </a:lvl4pPr>
            <a:lvl5pPr>
              <a:defRPr sz="1800" b="0">
                <a:solidFill>
                  <a:srgbClr val="303747"/>
                </a:solidFill>
              </a:defRPr>
            </a:lvl5pPr>
            <a:lvl6pPr>
              <a:defRPr sz="1800" b="0">
                <a:solidFill>
                  <a:srgbClr val="303747"/>
                </a:solidFill>
              </a:defRPr>
            </a:lvl6pPr>
            <a:lvl7pPr>
              <a:defRPr sz="1800" b="0">
                <a:solidFill>
                  <a:srgbClr val="303747"/>
                </a:solidFill>
              </a:defRPr>
            </a:lvl7pPr>
            <a:lvl8pPr>
              <a:defRPr sz="1800" b="0">
                <a:solidFill>
                  <a:srgbClr val="303747"/>
                </a:solidFill>
              </a:defRPr>
            </a:lvl8pPr>
            <a:lvl9pPr>
              <a:defRPr sz="18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Target model-only p95 latency</a:t>
            </a:r>
          </a:p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on a declared CPU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46D7A-D14D-4488-83DC-E52AB55F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303747"/>
                </a:solidFill>
              </a:defRPr>
            </a:defPPr>
            <a:lvl1pPr>
              <a:defRPr sz="2550" b="1">
                <a:solidFill>
                  <a:srgbClr val="303747"/>
                </a:solidFill>
              </a:defRPr>
            </a:lvl1pPr>
            <a:lvl2pPr>
              <a:defRPr sz="2550" b="1">
                <a:solidFill>
                  <a:srgbClr val="303747"/>
                </a:solidFill>
              </a:defRPr>
            </a:lvl2pPr>
            <a:lvl3pPr>
              <a:defRPr sz="2550" b="1">
                <a:solidFill>
                  <a:srgbClr val="303747"/>
                </a:solidFill>
              </a:defRPr>
            </a:lvl3pPr>
            <a:lvl4pPr>
              <a:defRPr sz="2550" b="1">
                <a:solidFill>
                  <a:srgbClr val="303747"/>
                </a:solidFill>
              </a:defRPr>
            </a:lvl4pPr>
            <a:lvl5pPr>
              <a:defRPr sz="2550" b="1">
                <a:solidFill>
                  <a:srgbClr val="303747"/>
                </a:solidFill>
              </a:defRPr>
            </a:lvl5pPr>
            <a:lvl6pPr>
              <a:defRPr sz="2550" b="1">
                <a:solidFill>
                  <a:srgbClr val="303747"/>
                </a:solidFill>
              </a:defRPr>
            </a:lvl6pPr>
            <a:lvl7pPr>
              <a:defRPr sz="2550" b="1">
                <a:solidFill>
                  <a:srgbClr val="303747"/>
                </a:solidFill>
              </a:defRPr>
            </a:lvl7pPr>
            <a:lvl8pPr>
              <a:defRPr sz="2550" b="1">
                <a:solidFill>
                  <a:srgbClr val="303747"/>
                </a:solidFill>
              </a:defRPr>
            </a:lvl8pPr>
            <a:lvl9pPr>
              <a:defRPr sz="2550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03747"/>
                </a:solidFill>
              </a:defRPr>
            </a:pPr>
            <a:r>
              <a:rPr sz="2550" b="1">
                <a:solidFill>
                  <a:srgbClr val="303747"/>
                </a:solidFill>
              </a:rPr>
              <a:t>Illustrative gross value: ₹20 lakh/year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124D2-1038-4B9B-AC88-3E4274E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47887"/>
                </a:solidFill>
              </a:defRPr>
            </a:defPPr>
            <a:lvl1pPr>
              <a:defRPr sz="1725" b="0">
                <a:solidFill>
                  <a:srgbClr val="747887"/>
                </a:solidFill>
              </a:defRPr>
            </a:lvl1pPr>
            <a:lvl2pPr>
              <a:defRPr sz="1725" b="0">
                <a:solidFill>
                  <a:srgbClr val="747887"/>
                </a:solidFill>
              </a:defRPr>
            </a:lvl2pPr>
            <a:lvl3pPr>
              <a:defRPr sz="1725" b="0">
                <a:solidFill>
                  <a:srgbClr val="747887"/>
                </a:solidFill>
              </a:defRPr>
            </a:lvl3pPr>
            <a:lvl4pPr>
              <a:defRPr sz="1725" b="0">
                <a:solidFill>
                  <a:srgbClr val="747887"/>
                </a:solidFill>
              </a:defRPr>
            </a:lvl4pPr>
            <a:lvl5pPr>
              <a:defRPr sz="1725" b="0">
                <a:solidFill>
                  <a:srgbClr val="747887"/>
                </a:solidFill>
              </a:defRPr>
            </a:lvl5pPr>
            <a:lvl6pPr>
              <a:defRPr sz="1725" b="0">
                <a:solidFill>
                  <a:srgbClr val="747887"/>
                </a:solidFill>
              </a:defRPr>
            </a:lvl6pPr>
            <a:lvl7pPr>
              <a:defRPr sz="1725" b="0">
                <a:solidFill>
                  <a:srgbClr val="747887"/>
                </a:solidFill>
              </a:defRPr>
            </a:lvl7pPr>
            <a:lvl8pPr>
              <a:defRPr sz="1725" b="0">
                <a:solidFill>
                  <a:srgbClr val="747887"/>
                </a:solidFill>
              </a:defRPr>
            </a:lvl8pPr>
            <a:lvl9pPr>
              <a:defRPr sz="172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47887"/>
                </a:solidFill>
              </a:defRPr>
            </a:pPr>
            <a:r>
              <a:rPr sz="1725" b="0">
                <a:solidFill>
                  <a:srgbClr val="747887"/>
                </a:solidFill>
              </a:rPr>
              <a:t>10 avoided outages × 4 hours × ₹50,000/hour. Subtract maintenance and deployment costs.</a:t>
            </a:r>
          </a:p>
        </p:txBody>
      </p:sp>
    </p:spTree>
    <p:extLst>
      <p:ext uri="{BB962C8B-B14F-4D97-AF65-F5344CB8AC3E}">
        <p14:creationId xmlns:p14="http://schemas.microsoft.com/office/powerpoint/2010/main" val="1948017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77646-F5ED-41CB-9099-8CDBBDC4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10 / 7.5-HOUR EXECUTION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29F3F-A664-43EE-BC46-45E43D62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Brief implementation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4DBFD-ABF0-4DA8-ACC7-33A7E6B5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22624-E2CB-42AD-A5A6-AD877FE4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8A3C9-DBC7-42BA-B5DA-5EC064D0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00:00–01:30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04F98-B6C7-4977-89D1-3C998DC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Data validation, causal features and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80206-F6CF-4AD7-8BB6-17785496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01:30–03:15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FAA50-045E-455A-84F0-B042B100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7177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RUL quantiles, conformal calibration and AI4I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66B61-07BD-4A5B-8BF1-31BCC193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03:15–04:45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3C063-D296-4E95-8856-4ADA2D88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Replay, maintenance policy and local explanations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4F253-D8DE-47F7-ABD0-16F5667F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04:45–06:00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DCBC1-A057-4FD9-BC6A-F47E102E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529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Locked evaluation, ablations and stable core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800DC-715E-48FF-B475-7CB3C9B1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06:00–07:30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F2548-F486-4B1C-B91A-3F66FE4A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Rehearsal, results, README and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714438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75CAA-96EB-4E28-B6E0-8EE01484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11 /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666A2-2801-4D0A-BBA7-417C6AB1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Demonstration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9591B-CC48-47EA-A396-729390F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9A70B-2A34-4D91-A373-2E72979B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79BEC-979C-4AD1-8E8D-ED09876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Working Stage 1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C954F-2D81-426E-88E5-75585E1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Pastel interface and deterministic replay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Pause, reset, step and speed controls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Sensor offset and packet-loss scenarios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Decision log and CSV export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63158-9931-40C1-8D79-746019EE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Stage 2 evidence to publish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14A1C-6EC0-4367-A3D1-B7A051A1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Endpoint RMSE and NASA S-score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Coverage, width and late-estimate rate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Per-mode precision, recall and PR-AUC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Latency and simulated decision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DCD7A-2E28-4D45-B4D1-CD7E0E6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Current portal values are synthetic. Benchmark accuracy and industrial ROI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698237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2026-10-19T12:08:33.1320000Z</dcterms:created>
  <dcterms:modified xsi:type="dcterms:W3CDTF">2026-10-19T12:08:33.1320000Z</dcterms:modified>
</coreProperties>
</file>