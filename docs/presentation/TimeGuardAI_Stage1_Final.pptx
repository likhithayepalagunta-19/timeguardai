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eb6000d4e14ab4" /><Relationship Type="http://schemas.openxmlformats.org/officeDocument/2006/relationships/extended-properties" Target="/docProps/app.xml" Id="R6deda11da1d043e4" /><Relationship Type="http://schemas.openxmlformats.org/officeDocument/2006/relationships/officeDocument" Target="/ppt/presentation.xml" Id="R5cca618e168c4a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ddf73ab8a44136"/>
  </p:sldMasterIdLst>
  <p:notesMasterIdLst>
    <p:notesMasterId xmlns:r="http://schemas.openxmlformats.org/officeDocument/2006/relationships" r:id="R114eee58da004ae8"/>
  </p:notesMasterIdLst>
  <p:sldIdLst>
    <p:sldId xmlns:r="http://schemas.openxmlformats.org/officeDocument/2006/relationships" id="256" r:id="Rb0f86407cd6e4091"/>
    <p:sldId xmlns:r="http://schemas.openxmlformats.org/officeDocument/2006/relationships" id="257" r:id="R755b5e41cd9548d9"/>
    <p:sldId xmlns:r="http://schemas.openxmlformats.org/officeDocument/2006/relationships" id="258" r:id="Rd3112c9c8a2b46c9"/>
    <p:sldId xmlns:r="http://schemas.openxmlformats.org/officeDocument/2006/relationships" id="259" r:id="Rf31d15219d8b4306"/>
    <p:sldId xmlns:r="http://schemas.openxmlformats.org/officeDocument/2006/relationships" id="260" r:id="R25ee861cba8646d6"/>
    <p:sldId xmlns:r="http://schemas.openxmlformats.org/officeDocument/2006/relationships" id="261" r:id="Re5bdb0776e98430a"/>
    <p:sldId xmlns:r="http://schemas.openxmlformats.org/officeDocument/2006/relationships" id="262" r:id="Rae3c9855bbee42f4"/>
    <p:sldId xmlns:r="http://schemas.openxmlformats.org/officeDocument/2006/relationships" id="263" r:id="Rf38f22a8ca3a4a02"/>
    <p:sldId xmlns:r="http://schemas.openxmlformats.org/officeDocument/2006/relationships" id="264" r:id="R78439bb194564a02"/>
    <p:sldId xmlns:r="http://schemas.openxmlformats.org/officeDocument/2006/relationships" id="265" r:id="Rb7a61c11395c468d"/>
    <p:sldId xmlns:r="http://schemas.openxmlformats.org/officeDocument/2006/relationships" id="266" r:id="Ra1a7be4cbf6d4a9c"/>
    <p:sldId xmlns:r="http://schemas.openxmlformats.org/officeDocument/2006/relationships" id="267" r:id="R17664b419a2a4f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9e6dd794a14a84" /><Relationship Type="http://schemas.openxmlformats.org/officeDocument/2006/relationships/slideMaster" Target="/ppt/slideMasters/slideMaster1.xml" Id="R42ddf73ab8a44136" /><Relationship Type="http://schemas.openxmlformats.org/officeDocument/2006/relationships/notesMaster" Target="/ppt/notesMasters/notesMaster1.xml" Id="R114eee58da004ae8" /><Relationship Type="http://schemas.openxmlformats.org/officeDocument/2006/relationships/presProps" Target="/ppt/presProps.xml" Id="Rd34202b1f1a94548" /><Relationship Type="http://schemas.openxmlformats.org/officeDocument/2006/relationships/tableStyles" Target="/ppt/tableStyles.xml" Id="R69ab25b78c21487c" /><Relationship Type="http://schemas.openxmlformats.org/officeDocument/2006/relationships/slide" Target="/ppt/slides/slide1.xml" Id="Rb0f86407cd6e4091" /><Relationship Type="http://schemas.openxmlformats.org/officeDocument/2006/relationships/slide" Target="/ppt/slides/slide2.xml" Id="R755b5e41cd9548d9" /><Relationship Type="http://schemas.openxmlformats.org/officeDocument/2006/relationships/slide" Target="/ppt/slides/slide3.xml" Id="Rd3112c9c8a2b46c9" /><Relationship Type="http://schemas.openxmlformats.org/officeDocument/2006/relationships/slide" Target="/ppt/slides/slide4.xml" Id="Rf31d15219d8b4306" /><Relationship Type="http://schemas.openxmlformats.org/officeDocument/2006/relationships/slide" Target="/ppt/slides/slide5.xml" Id="R25ee861cba8646d6" /><Relationship Type="http://schemas.openxmlformats.org/officeDocument/2006/relationships/slide" Target="/ppt/slides/slide6.xml" Id="Re5bdb0776e98430a" /><Relationship Type="http://schemas.openxmlformats.org/officeDocument/2006/relationships/slide" Target="/ppt/slides/slide7.xml" Id="Rae3c9855bbee42f4" /><Relationship Type="http://schemas.openxmlformats.org/officeDocument/2006/relationships/slide" Target="/ppt/slides/slide8.xml" Id="Rf38f22a8ca3a4a02" /><Relationship Type="http://schemas.openxmlformats.org/officeDocument/2006/relationships/slide" Target="/ppt/slides/slide9.xml" Id="R78439bb194564a02" /><Relationship Type="http://schemas.openxmlformats.org/officeDocument/2006/relationships/slide" Target="/ppt/slides/slide10.xml" Id="Rb7a61c11395c468d" /><Relationship Type="http://schemas.openxmlformats.org/officeDocument/2006/relationships/slide" Target="/ppt/slides/slide11.xml" Id="Ra1a7be4cbf6d4a9c" /><Relationship Type="http://schemas.openxmlformats.org/officeDocument/2006/relationships/slide" Target="/ppt/slides/slide12.xml" Id="R17664b419a2a4f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03566008b24d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3efb0f53744033" /><Relationship Type="http://schemas.openxmlformats.org/officeDocument/2006/relationships/notesMaster" Target="/ppt/notesMasters/notesMaster1.xml" Id="R4233ac15524145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65822160004f88" /><Relationship Type="http://schemas.openxmlformats.org/officeDocument/2006/relationships/notesMaster" Target="/ppt/notesMasters/notesMaster1.xml" Id="R33d07fcebd9c44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00beaa07f2450b" /><Relationship Type="http://schemas.openxmlformats.org/officeDocument/2006/relationships/notesMaster" Target="/ppt/notesMasters/notesMaster1.xml" Id="Rdcdaa18b628647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a7ee880faf4fbb" /><Relationship Type="http://schemas.openxmlformats.org/officeDocument/2006/relationships/notesMaster" Target="/ppt/notesMasters/notesMaster1.xml" Id="R26f3a247c24e4a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141e64e5e64ba3" /><Relationship Type="http://schemas.openxmlformats.org/officeDocument/2006/relationships/notesMaster" Target="/ppt/notesMasters/notesMaster1.xml" Id="Rc8024d9c4e0048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9fee22445b4e4a" /><Relationship Type="http://schemas.openxmlformats.org/officeDocument/2006/relationships/notesMaster" Target="/ppt/notesMasters/notesMaster1.xml" Id="R9b8a95efe83e46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cf32e8f62649f2" /><Relationship Type="http://schemas.openxmlformats.org/officeDocument/2006/relationships/notesMaster" Target="/ppt/notesMasters/notesMaster1.xml" Id="Rb6575da99b774a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0c9630a0de4f3c" /><Relationship Type="http://schemas.openxmlformats.org/officeDocument/2006/relationships/notesMaster" Target="/ppt/notesMasters/notesMaster1.xml" Id="Rd5f9858242b645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ef6e0ee4e5428e" /><Relationship Type="http://schemas.openxmlformats.org/officeDocument/2006/relationships/notesMaster" Target="/ppt/notesMasters/notesMaster1.xml" Id="R4e3efd3177f844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70f9276e1b42ba" /><Relationship Type="http://schemas.openxmlformats.org/officeDocument/2006/relationships/notesMaster" Target="/ppt/notesMasters/notesMaster1.xml" Id="R27fdf45279c340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d43883fe964e99" /><Relationship Type="http://schemas.openxmlformats.org/officeDocument/2006/relationships/notesMaster" Target="/ppt/notesMasters/notesMaster1.xml" Id="R5f19619d57ff47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501c67b7fa48f0" /><Relationship Type="http://schemas.openxmlformats.org/officeDocument/2006/relationships/notesMaster" Target="/ppt/notesMasters/notesMaster1.xml" Id="Rcf362d4803f64d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team and member placeholders before submission. Event dates and rubric fields come from the team prompt, not the SIH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supplied SIH PDF is a reference only. Do not import its navigation problem, SIH identity or team names into this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1 portal is an illustrative synthetic simulation. The real model pipeline trains separately and requires downloaded data and weights.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novelty claim is integration and evaluation. Quantile regression, CQR and SHAP are existing methods. Sources: https://arxiv.org/abs/1905.03222 and https://shap.readthedocs.io/en/latest/generated/shap.TreeExplainer.html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NASA: https://data.nasa.gov/dataset/cmapss-jet-engine-simulated-data . UCI: https://archive.ics.uci.edu/dataset/601/ai4i+2020+predictive+maintenance+dataset . CQR: https://arxiv.org/abs/1905.03222 . Data domains remain separate. Nominal marginal coverage depends on calibration/test endpoint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diagram uses editable native PowerPoint shapes and connectors. TreeSHAP explains a fitted model, not physical causality. CQR has marginal guarantees under exchangeability, not guaranteed safety under drift.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on this slide are hypotheses or illustrative assumptions, not measured industrial results. Example arithmetic: 10 x 4 x INR 50,000 = INR 2,000,000 gross avoided downtime, before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build target is six hours. Preserve the last 1.5 hours for stabilization, evidence, rehearsal and final submission. Check the actual organizer rules on prepared code and allowed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implementation status is described in README.md. No trained model performance is claimed. Demo sequence: replay clean degradation, inject offset, inject packet loss, export evidence, explain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19 October 2026. Sources: reports/rul.json and reports/modes.json. FD001 uses 100 final official endpoints. Baseline raw RMSE 14.21, NASA S-score 308.42. Median raw RMSE 14.90, NASA score 398.78. Conservative decision RMSE 17.62, NASA score 418.71. Test coverage target missed. AI4I 2000-row holdout has 68 positives. Model-only latency excludes features, SHAP and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5676b7b474a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49330606474f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2bcbc5bec4a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705f9031341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14895510941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df902ef8a4b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A0E90E-7C94-4710-ADF0-938392AAF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A5DC52-7083-4F2B-9BD0-FD742EF339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C639FC-8FF9-418D-AA0B-5CD72ABD6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B294FF-2EE8-44CC-B69F-A9EBAE05B1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48EF97-E394-4DF5-BB8B-33DECD9399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84B5EA-F426-4F9E-9969-6E4370069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2413E4-2BF5-4918-AEBF-154DBE1524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1A1E18-3B6D-4F76-8354-454E3D1D9C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483BCF-AA09-48A1-986B-3A3203FCE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E91AF4-8843-4A93-9AB1-3BD53887F0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bf0494649549be" /><Relationship Type="http://schemas.openxmlformats.org/officeDocument/2006/relationships/slideLayout" Target="/ppt/slideLayouts/slideLayout1.xml" Id="R09f0d77e94374ae1" /><Relationship Type="http://schemas.openxmlformats.org/officeDocument/2006/relationships/slideLayout" Target="/ppt/slideLayouts/slideLayout2.xml" Id="R39647583791e43cf" /><Relationship Type="http://schemas.openxmlformats.org/officeDocument/2006/relationships/slideLayout" Target="/ppt/slideLayouts/slideLayout3.xml" Id="R95efd9cadb3944c7" /><Relationship Type="http://schemas.openxmlformats.org/officeDocument/2006/relationships/slideLayout" Target="/ppt/slideLayouts/slideLayout4.xml" Id="R23a74fba99f9484d" /><Relationship Type="http://schemas.openxmlformats.org/officeDocument/2006/relationships/slideLayout" Target="/ppt/slideLayouts/slideLayout5.xml" Id="R2176106b58d744c7" /><Relationship Type="http://schemas.openxmlformats.org/officeDocument/2006/relationships/slideLayout" Target="/ppt/slideLayouts/slideLayout6.xml" Id="R18f0f30a09764b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f0d77e94374ae1"/>
    <p:sldLayoutId xmlns:r="http://schemas.openxmlformats.org/officeDocument/2006/relationships" id="2147483650" r:id="R39647583791e43cf"/>
    <p:sldLayoutId xmlns:r="http://schemas.openxmlformats.org/officeDocument/2006/relationships" id="2147483651" r:id="R95efd9cadb3944c7"/>
    <p:sldLayoutId xmlns:r="http://schemas.openxmlformats.org/officeDocument/2006/relationships" id="2147483652" r:id="R23a74fba99f9484d"/>
    <p:sldLayoutId xmlns:r="http://schemas.openxmlformats.org/officeDocument/2006/relationships" id="2147483653" r:id="R2176106b58d744c7"/>
    <p:sldLayoutId xmlns:r="http://schemas.openxmlformats.org/officeDocument/2006/relationships" id="2147483654" r:id="R18f0f30a09764b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722d616ac34108" /><Relationship Type="http://schemas.openxmlformats.org/officeDocument/2006/relationships/notesSlide" Target="/ppt/notesSlides/notesSlide1.xml" Id="Rf471ef2f78d642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59b88aa594279" /><Relationship Type="http://schemas.openxmlformats.org/officeDocument/2006/relationships/notesSlide" Target="/ppt/notesSlides/notesSlide2.xml" Id="Rca578a1c5b7e48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6fb0e90d1a4843" /><Relationship Type="http://schemas.openxmlformats.org/officeDocument/2006/relationships/notesSlide" Target="/ppt/notesSlides/notesSlide3.xml" Id="R7cd01c0dd7cd40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7f17e98b7a4eb6" /><Relationship Type="http://schemas.openxmlformats.org/officeDocument/2006/relationships/notesSlide" Target="/ppt/notesSlides/notesSlide4.xml" Id="Rd2efcf6c85da48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b948b5b86487c" /><Relationship Type="http://schemas.openxmlformats.org/officeDocument/2006/relationships/notesSlide" Target="/ppt/notesSlides/notesSlide5.xml" Id="R8c9c439f0c8a40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d07baa088470d" /><Relationship Type="http://schemas.openxmlformats.org/officeDocument/2006/relationships/notesSlide" Target="/ppt/notesSlides/notesSlide6.xml" Id="Rb8624af0b82e4c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a92ef946d4f77" /><Relationship Type="http://schemas.openxmlformats.org/officeDocument/2006/relationships/notesSlide" Target="/ppt/notesSlides/notesSlide7.xml" Id="R5d297415e41c47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073a5a92fb4fa3" /><Relationship Type="http://schemas.openxmlformats.org/officeDocument/2006/relationships/notesSlide" Target="/ppt/notesSlides/notesSlide8.xml" Id="Ra4d9e3f032004e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2c47c5fcc4173" /><Relationship Type="http://schemas.openxmlformats.org/officeDocument/2006/relationships/notesSlide" Target="/ppt/notesSlides/notesSlide9.xml" Id="R42ff9359897c49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cbf763b524f2e" /><Relationship Type="http://schemas.openxmlformats.org/officeDocument/2006/relationships/notesSlide" Target="/ppt/notesSlides/notesSlide10.xml" Id="Rc3230cbba4de4b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05fdd10f04c3e" /><Relationship Type="http://schemas.openxmlformats.org/officeDocument/2006/relationships/notesSlide" Target="/ppt/notesSlides/notesSlide11.xml" Id="R5e43fe9c86d54f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980baca754567" /><Relationship Type="http://schemas.openxmlformats.org/officeDocument/2006/relationships/notesSlide" Target="/ppt/notesSlides/notesSlide12.xml" Id="R820e80c4946a43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D9E8E-7677-4AAD-B6CC-36F5210F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TEAM NAME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4210B-A505-44F9-936D-12A6A68D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TimeGuard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8EB81-CE99-49BD-ACEC-5927E704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27C5F-5F78-4F64-AFCE-0C7E770C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F01D3-73A0-435A-8878-B1BE274D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75" b="1">
                <a:solidFill>
                  <a:srgbClr val="303747"/>
                </a:solidFill>
              </a:defRPr>
            </a:defPPr>
            <a:lvl1pPr>
              <a:defRPr sz="4275" b="1">
                <a:solidFill>
                  <a:srgbClr val="303747"/>
                </a:solidFill>
              </a:defRPr>
            </a:lvl1pPr>
            <a:lvl2pPr>
              <a:defRPr sz="4275" b="1">
                <a:solidFill>
                  <a:srgbClr val="303747"/>
                </a:solidFill>
              </a:defRPr>
            </a:lvl2pPr>
            <a:lvl3pPr>
              <a:defRPr sz="4275" b="1">
                <a:solidFill>
                  <a:srgbClr val="303747"/>
                </a:solidFill>
              </a:defRPr>
            </a:lvl3pPr>
            <a:lvl4pPr>
              <a:defRPr sz="4275" b="1">
                <a:solidFill>
                  <a:srgbClr val="303747"/>
                </a:solidFill>
              </a:defRPr>
            </a:lvl4pPr>
            <a:lvl5pPr>
              <a:defRPr sz="4275" b="1">
                <a:solidFill>
                  <a:srgbClr val="303747"/>
                </a:solidFill>
              </a:defRPr>
            </a:lvl5pPr>
            <a:lvl6pPr>
              <a:defRPr sz="4275" b="1">
                <a:solidFill>
                  <a:srgbClr val="303747"/>
                </a:solidFill>
              </a:defRPr>
            </a:lvl6pPr>
            <a:lvl7pPr>
              <a:defRPr sz="4275" b="1">
                <a:solidFill>
                  <a:srgbClr val="303747"/>
                </a:solidFill>
              </a:defRPr>
            </a:lvl7pPr>
            <a:lvl8pPr>
              <a:defRPr sz="4275" b="1">
                <a:solidFill>
                  <a:srgbClr val="303747"/>
                </a:solidFill>
              </a:defRPr>
            </a:lvl8pPr>
            <a:lvl9pPr>
              <a:defRPr sz="427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303747"/>
                </a:solidFill>
              </a:defRPr>
            </a:pPr>
            <a:r>
              <a:rPr sz="4275" b="1">
                <a:solidFill>
                  <a:srgbClr val="303747"/>
                </a:solidFill>
              </a:rPr>
              <a:t>Predicting machine failure</a:t>
            </a:r>
          </a:p>
          <a:p xmlns:a="http://schemas.openxmlformats.org/drawingml/2006/main">
            <a:pPr>
              <a:defRPr sz="4275" b="1">
                <a:solidFill>
                  <a:srgbClr val="303747"/>
                </a:solidFill>
              </a:defRPr>
            </a:pPr>
            <a:r>
              <a:rPr sz="4275" b="1">
                <a:solidFill>
                  <a:srgbClr val="303747"/>
                </a:solidFill>
              </a:rPr>
              <a:t>from sensor streams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E9954-EC7B-4592-9E6A-934A49BD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8B78B3"/>
                </a:solidFill>
              </a:defRPr>
            </a:defPPr>
            <a:lvl1pPr>
              <a:defRPr sz="2175" b="0">
                <a:solidFill>
                  <a:srgbClr val="8B78B3"/>
                </a:solidFill>
              </a:defRPr>
            </a:lvl1pPr>
            <a:lvl2pPr>
              <a:defRPr sz="2175" b="0">
                <a:solidFill>
                  <a:srgbClr val="8B78B3"/>
                </a:solidFill>
              </a:defRPr>
            </a:lvl2pPr>
            <a:lvl3pPr>
              <a:defRPr sz="2175" b="0">
                <a:solidFill>
                  <a:srgbClr val="8B78B3"/>
                </a:solidFill>
              </a:defRPr>
            </a:lvl3pPr>
            <a:lvl4pPr>
              <a:defRPr sz="2175" b="0">
                <a:solidFill>
                  <a:srgbClr val="8B78B3"/>
                </a:solidFill>
              </a:defRPr>
            </a:lvl4pPr>
            <a:lvl5pPr>
              <a:defRPr sz="2175" b="0">
                <a:solidFill>
                  <a:srgbClr val="8B78B3"/>
                </a:solidFill>
              </a:defRPr>
            </a:lvl5pPr>
            <a:lvl6pPr>
              <a:defRPr sz="2175" b="0">
                <a:solidFill>
                  <a:srgbClr val="8B78B3"/>
                </a:solidFill>
              </a:defRPr>
            </a:lvl6pPr>
            <a:lvl7pPr>
              <a:defRPr sz="2175" b="0">
                <a:solidFill>
                  <a:srgbClr val="8B78B3"/>
                </a:solidFill>
              </a:defRPr>
            </a:lvl7pPr>
            <a:lvl8pPr>
              <a:defRPr sz="2175" b="0">
                <a:solidFill>
                  <a:srgbClr val="8B78B3"/>
                </a:solidFill>
              </a:defRPr>
            </a:lvl8pPr>
            <a:lvl9pPr>
              <a:defRPr sz="21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8B78B3"/>
                </a:solidFill>
              </a:defRPr>
            </a:pPr>
            <a:r>
              <a:rPr sz="2175" b="0">
                <a:solidFill>
                  <a:srgbClr val="8B78B3"/>
                </a:solidFill>
              </a:rPr>
              <a:t>A maintenance window with uncertainty and a reason to 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07065-4E5E-4A7F-AF64-8BAC7CB2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03747"/>
                </a:solidFill>
              </a:defRPr>
            </a:defPPr>
            <a:lvl1pPr>
              <a:defRPr sz="2325" b="1">
                <a:solidFill>
                  <a:srgbClr val="303747"/>
                </a:solidFill>
              </a:defRPr>
            </a:lvl1pPr>
            <a:lvl2pPr>
              <a:defRPr sz="2325" b="1">
                <a:solidFill>
                  <a:srgbClr val="303747"/>
                </a:solidFill>
              </a:defRPr>
            </a:lvl2pPr>
            <a:lvl3pPr>
              <a:defRPr sz="2325" b="1">
                <a:solidFill>
                  <a:srgbClr val="303747"/>
                </a:solidFill>
              </a:defRPr>
            </a:lvl3pPr>
            <a:lvl4pPr>
              <a:defRPr sz="2325" b="1">
                <a:solidFill>
                  <a:srgbClr val="303747"/>
                </a:solidFill>
              </a:defRPr>
            </a:lvl4pPr>
            <a:lvl5pPr>
              <a:defRPr sz="2325" b="1">
                <a:solidFill>
                  <a:srgbClr val="303747"/>
                </a:solidFill>
              </a:defRPr>
            </a:lvl5pPr>
            <a:lvl6pPr>
              <a:defRPr sz="2325" b="1">
                <a:solidFill>
                  <a:srgbClr val="303747"/>
                </a:solidFill>
              </a:defRPr>
            </a:lvl6pPr>
            <a:lvl7pPr>
              <a:defRPr sz="2325" b="1">
                <a:solidFill>
                  <a:srgbClr val="303747"/>
                </a:solidFill>
              </a:defRPr>
            </a:lvl7pPr>
            <a:lvl8pPr>
              <a:defRPr sz="2325" b="1">
                <a:solidFill>
                  <a:srgbClr val="303747"/>
                </a:solidFill>
              </a:defRPr>
            </a:lvl8pPr>
            <a:lvl9pPr>
              <a:defRPr sz="23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03747"/>
                </a:solidFill>
              </a:defRPr>
            </a:pPr>
            <a:r>
              <a:rPr sz="2325" b="1">
                <a:solidFill>
                  <a:srgbClr val="303747"/>
                </a:solidFill>
              </a:rPr>
              <a:t>[Insert registered team name]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97C62-E558-4291-B836-7BF7F085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747887"/>
                </a:solidFill>
              </a:defRPr>
            </a:defPPr>
            <a:lvl1pPr>
              <a:defRPr sz="1575" b="0">
                <a:solidFill>
                  <a:srgbClr val="747887"/>
                </a:solidFill>
              </a:defRPr>
            </a:lvl1pPr>
            <a:lvl2pPr>
              <a:defRPr sz="1575" b="0">
                <a:solidFill>
                  <a:srgbClr val="747887"/>
                </a:solidFill>
              </a:defRPr>
            </a:lvl2pPr>
            <a:lvl3pPr>
              <a:defRPr sz="1575" b="0">
                <a:solidFill>
                  <a:srgbClr val="747887"/>
                </a:solidFill>
              </a:defRPr>
            </a:lvl3pPr>
            <a:lvl4pPr>
              <a:defRPr sz="1575" b="0">
                <a:solidFill>
                  <a:srgbClr val="747887"/>
                </a:solidFill>
              </a:defRPr>
            </a:lvl4pPr>
            <a:lvl5pPr>
              <a:defRPr sz="1575" b="0">
                <a:solidFill>
                  <a:srgbClr val="747887"/>
                </a:solidFill>
              </a:defRPr>
            </a:lvl5pPr>
            <a:lvl6pPr>
              <a:defRPr sz="1575" b="0">
                <a:solidFill>
                  <a:srgbClr val="747887"/>
                </a:solidFill>
              </a:defRPr>
            </a:lvl6pPr>
            <a:lvl7pPr>
              <a:defRPr sz="1575" b="0">
                <a:solidFill>
                  <a:srgbClr val="747887"/>
                </a:solidFill>
              </a:defRPr>
            </a:lvl7pPr>
            <a:lvl8pPr>
              <a:defRPr sz="1575" b="0">
                <a:solidFill>
                  <a:srgbClr val="747887"/>
                </a:solidFill>
              </a:defRPr>
            </a:lvl8pPr>
            <a:lvl9pPr>
              <a:defRPr sz="15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747887"/>
                </a:solidFill>
              </a:defRPr>
            </a:pPr>
            <a:r>
              <a:rPr sz="1575" b="0">
                <a:solidFill>
                  <a:srgbClr val="747887"/>
                </a:solidFill>
              </a:rPr>
              <a:t>Stage 1 · 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0156316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022F6-5444-4B37-84CB-712ECFC2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02 / PEOPLE AND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99D98-8805-4660-85A1-673FCAA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Team members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D426B-3B2C-430D-AF69-ADD72503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6FD69-37C4-4646-B221-770DB4FE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7F353-B899-4EC4-B0B0-323F741E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B78B3"/>
                </a:solidFill>
              </a:defRPr>
            </a:defPPr>
            <a:lvl1pPr>
              <a:defRPr sz="2250" b="1">
                <a:solidFill>
                  <a:srgbClr val="8B78B3"/>
                </a:solidFill>
              </a:defRPr>
            </a:lvl1pPr>
            <a:lvl2pPr>
              <a:defRPr sz="2250" b="1">
                <a:solidFill>
                  <a:srgbClr val="8B78B3"/>
                </a:solidFill>
              </a:defRPr>
            </a:lvl2pPr>
            <a:lvl3pPr>
              <a:defRPr sz="2250" b="1">
                <a:solidFill>
                  <a:srgbClr val="8B78B3"/>
                </a:solidFill>
              </a:defRPr>
            </a:lvl3pPr>
            <a:lvl4pPr>
              <a:defRPr sz="2250" b="1">
                <a:solidFill>
                  <a:srgbClr val="8B78B3"/>
                </a:solidFill>
              </a:defRPr>
            </a:lvl4pPr>
            <a:lvl5pPr>
              <a:defRPr sz="2250" b="1">
                <a:solidFill>
                  <a:srgbClr val="8B78B3"/>
                </a:solidFill>
              </a:defRPr>
            </a:lvl5pPr>
            <a:lvl6pPr>
              <a:defRPr sz="2250" b="1">
                <a:solidFill>
                  <a:srgbClr val="8B78B3"/>
                </a:solidFill>
              </a:defRPr>
            </a:lvl6pPr>
            <a:lvl7pPr>
              <a:defRPr sz="2250" b="1">
                <a:solidFill>
                  <a:srgbClr val="8B78B3"/>
                </a:solidFill>
              </a:defRPr>
            </a:lvl7pPr>
            <a:lvl8pPr>
              <a:defRPr sz="2250" b="1">
                <a:solidFill>
                  <a:srgbClr val="8B78B3"/>
                </a:solidFill>
              </a:defRPr>
            </a:lvl8pPr>
            <a:lvl9pPr>
              <a:defRPr sz="22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B78B3"/>
                </a:solidFill>
              </a:defRPr>
            </a:pPr>
            <a:r>
              <a:rPr sz="2250" b="1">
                <a:solidFill>
                  <a:srgbClr val="8B78B3"/>
                </a:solidFill>
              </a:rPr>
              <a:t>[Member 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CAB70-B758-4250-BE76-0454821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383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3747"/>
                </a:solidFill>
              </a:defRPr>
            </a:defPPr>
            <a:lvl1pPr>
              <a:defRPr sz="2025" b="0">
                <a:solidFill>
                  <a:srgbClr val="303747"/>
                </a:solidFill>
              </a:defRPr>
            </a:lvl1pPr>
            <a:lvl2pPr>
              <a:defRPr sz="2025" b="0">
                <a:solidFill>
                  <a:srgbClr val="303747"/>
                </a:solidFill>
              </a:defRPr>
            </a:lvl2pPr>
            <a:lvl3pPr>
              <a:defRPr sz="2025" b="0">
                <a:solidFill>
                  <a:srgbClr val="303747"/>
                </a:solidFill>
              </a:defRPr>
            </a:lvl3pPr>
            <a:lvl4pPr>
              <a:defRPr sz="2025" b="0">
                <a:solidFill>
                  <a:srgbClr val="303747"/>
                </a:solidFill>
              </a:defRPr>
            </a:lvl4pPr>
            <a:lvl5pPr>
              <a:defRPr sz="2025" b="0">
                <a:solidFill>
                  <a:srgbClr val="303747"/>
                </a:solidFill>
              </a:defRPr>
            </a:lvl5pPr>
            <a:lvl6pPr>
              <a:defRPr sz="2025" b="0">
                <a:solidFill>
                  <a:srgbClr val="303747"/>
                </a:solidFill>
              </a:defRPr>
            </a:lvl6pPr>
            <a:lvl7pPr>
              <a:defRPr sz="2025" b="0">
                <a:solidFill>
                  <a:srgbClr val="303747"/>
                </a:solidFill>
              </a:defRPr>
            </a:lvl7pPr>
            <a:lvl8pPr>
              <a:defRPr sz="2025" b="0">
                <a:solidFill>
                  <a:srgbClr val="303747"/>
                </a:solidFill>
              </a:defRPr>
            </a:lvl8pPr>
            <a:lvl9pPr>
              <a:defRPr sz="202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3747"/>
                </a:solidFill>
              </a:defRPr>
            </a:pPr>
            <a:r>
              <a:rPr sz="2025" b="0">
                <a:solidFill>
                  <a:srgbClr val="303747"/>
                </a:solidFill>
              </a:rPr>
              <a:t>RUL modeling and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02B69-5A80-48B2-A876-798EB0C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B78B3"/>
                </a:solidFill>
              </a:defRPr>
            </a:defPPr>
            <a:lvl1pPr>
              <a:defRPr sz="2250" b="1">
                <a:solidFill>
                  <a:srgbClr val="8B78B3"/>
                </a:solidFill>
              </a:defRPr>
            </a:lvl1pPr>
            <a:lvl2pPr>
              <a:defRPr sz="2250" b="1">
                <a:solidFill>
                  <a:srgbClr val="8B78B3"/>
                </a:solidFill>
              </a:defRPr>
            </a:lvl2pPr>
            <a:lvl3pPr>
              <a:defRPr sz="2250" b="1">
                <a:solidFill>
                  <a:srgbClr val="8B78B3"/>
                </a:solidFill>
              </a:defRPr>
            </a:lvl3pPr>
            <a:lvl4pPr>
              <a:defRPr sz="2250" b="1">
                <a:solidFill>
                  <a:srgbClr val="8B78B3"/>
                </a:solidFill>
              </a:defRPr>
            </a:lvl4pPr>
            <a:lvl5pPr>
              <a:defRPr sz="2250" b="1">
                <a:solidFill>
                  <a:srgbClr val="8B78B3"/>
                </a:solidFill>
              </a:defRPr>
            </a:lvl5pPr>
            <a:lvl6pPr>
              <a:defRPr sz="2250" b="1">
                <a:solidFill>
                  <a:srgbClr val="8B78B3"/>
                </a:solidFill>
              </a:defRPr>
            </a:lvl6pPr>
            <a:lvl7pPr>
              <a:defRPr sz="2250" b="1">
                <a:solidFill>
                  <a:srgbClr val="8B78B3"/>
                </a:solidFill>
              </a:defRPr>
            </a:lvl7pPr>
            <a:lvl8pPr>
              <a:defRPr sz="2250" b="1">
                <a:solidFill>
                  <a:srgbClr val="8B78B3"/>
                </a:solidFill>
              </a:defRPr>
            </a:lvl8pPr>
            <a:lvl9pPr>
              <a:defRPr sz="22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B78B3"/>
                </a:solidFill>
              </a:defRPr>
            </a:pPr>
            <a:r>
              <a:rPr sz="2250" b="1">
                <a:solidFill>
                  <a:srgbClr val="8B78B3"/>
                </a:solidFill>
              </a:rPr>
              <a:t>[Member 2]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933FB-E2FF-47FF-9C34-DE864E09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432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3747"/>
                </a:solidFill>
              </a:defRPr>
            </a:defPPr>
            <a:lvl1pPr>
              <a:defRPr sz="2025" b="0">
                <a:solidFill>
                  <a:srgbClr val="303747"/>
                </a:solidFill>
              </a:defRPr>
            </a:lvl1pPr>
            <a:lvl2pPr>
              <a:defRPr sz="2025" b="0">
                <a:solidFill>
                  <a:srgbClr val="303747"/>
                </a:solidFill>
              </a:defRPr>
            </a:lvl2pPr>
            <a:lvl3pPr>
              <a:defRPr sz="2025" b="0">
                <a:solidFill>
                  <a:srgbClr val="303747"/>
                </a:solidFill>
              </a:defRPr>
            </a:lvl3pPr>
            <a:lvl4pPr>
              <a:defRPr sz="2025" b="0">
                <a:solidFill>
                  <a:srgbClr val="303747"/>
                </a:solidFill>
              </a:defRPr>
            </a:lvl4pPr>
            <a:lvl5pPr>
              <a:defRPr sz="2025" b="0">
                <a:solidFill>
                  <a:srgbClr val="303747"/>
                </a:solidFill>
              </a:defRPr>
            </a:lvl5pPr>
            <a:lvl6pPr>
              <a:defRPr sz="2025" b="0">
                <a:solidFill>
                  <a:srgbClr val="303747"/>
                </a:solidFill>
              </a:defRPr>
            </a:lvl6pPr>
            <a:lvl7pPr>
              <a:defRPr sz="2025" b="0">
                <a:solidFill>
                  <a:srgbClr val="303747"/>
                </a:solidFill>
              </a:defRPr>
            </a:lvl7pPr>
            <a:lvl8pPr>
              <a:defRPr sz="2025" b="0">
                <a:solidFill>
                  <a:srgbClr val="303747"/>
                </a:solidFill>
              </a:defRPr>
            </a:lvl8pPr>
            <a:lvl9pPr>
              <a:defRPr sz="202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3747"/>
                </a:solidFill>
              </a:defRPr>
            </a:pPr>
            <a:r>
              <a:rPr sz="2025" b="0">
                <a:solidFill>
                  <a:srgbClr val="303747"/>
                </a:solidFill>
              </a:rPr>
              <a:t>Data pipeline and stream replay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BFC3D-2FF4-4ACF-9C9E-9798BFF5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B78B3"/>
                </a:solidFill>
              </a:defRPr>
            </a:defPPr>
            <a:lvl1pPr>
              <a:defRPr sz="2250" b="1">
                <a:solidFill>
                  <a:srgbClr val="8B78B3"/>
                </a:solidFill>
              </a:defRPr>
            </a:lvl1pPr>
            <a:lvl2pPr>
              <a:defRPr sz="2250" b="1">
                <a:solidFill>
                  <a:srgbClr val="8B78B3"/>
                </a:solidFill>
              </a:defRPr>
            </a:lvl2pPr>
            <a:lvl3pPr>
              <a:defRPr sz="2250" b="1">
                <a:solidFill>
                  <a:srgbClr val="8B78B3"/>
                </a:solidFill>
              </a:defRPr>
            </a:lvl3pPr>
            <a:lvl4pPr>
              <a:defRPr sz="2250" b="1">
                <a:solidFill>
                  <a:srgbClr val="8B78B3"/>
                </a:solidFill>
              </a:defRPr>
            </a:lvl4pPr>
            <a:lvl5pPr>
              <a:defRPr sz="2250" b="1">
                <a:solidFill>
                  <a:srgbClr val="8B78B3"/>
                </a:solidFill>
              </a:defRPr>
            </a:lvl5pPr>
            <a:lvl6pPr>
              <a:defRPr sz="2250" b="1">
                <a:solidFill>
                  <a:srgbClr val="8B78B3"/>
                </a:solidFill>
              </a:defRPr>
            </a:lvl6pPr>
            <a:lvl7pPr>
              <a:defRPr sz="2250" b="1">
                <a:solidFill>
                  <a:srgbClr val="8B78B3"/>
                </a:solidFill>
              </a:defRPr>
            </a:lvl7pPr>
            <a:lvl8pPr>
              <a:defRPr sz="2250" b="1">
                <a:solidFill>
                  <a:srgbClr val="8B78B3"/>
                </a:solidFill>
              </a:defRPr>
            </a:lvl8pPr>
            <a:lvl9pPr>
              <a:defRPr sz="22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B78B3"/>
                </a:solidFill>
              </a:defRPr>
            </a:pPr>
            <a:r>
              <a:rPr sz="2250" b="1">
                <a:solidFill>
                  <a:srgbClr val="8B78B3"/>
                </a:solidFill>
              </a:rPr>
              <a:t>[Member 3]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99B60-5A71-4F29-9159-9518226B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481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3747"/>
                </a:solidFill>
              </a:defRPr>
            </a:defPPr>
            <a:lvl1pPr>
              <a:defRPr sz="2025" b="0">
                <a:solidFill>
                  <a:srgbClr val="303747"/>
                </a:solidFill>
              </a:defRPr>
            </a:lvl1pPr>
            <a:lvl2pPr>
              <a:defRPr sz="2025" b="0">
                <a:solidFill>
                  <a:srgbClr val="303747"/>
                </a:solidFill>
              </a:defRPr>
            </a:lvl2pPr>
            <a:lvl3pPr>
              <a:defRPr sz="2025" b="0">
                <a:solidFill>
                  <a:srgbClr val="303747"/>
                </a:solidFill>
              </a:defRPr>
            </a:lvl3pPr>
            <a:lvl4pPr>
              <a:defRPr sz="2025" b="0">
                <a:solidFill>
                  <a:srgbClr val="303747"/>
                </a:solidFill>
              </a:defRPr>
            </a:lvl4pPr>
            <a:lvl5pPr>
              <a:defRPr sz="2025" b="0">
                <a:solidFill>
                  <a:srgbClr val="303747"/>
                </a:solidFill>
              </a:defRPr>
            </a:lvl5pPr>
            <a:lvl6pPr>
              <a:defRPr sz="2025" b="0">
                <a:solidFill>
                  <a:srgbClr val="303747"/>
                </a:solidFill>
              </a:defRPr>
            </a:lvl6pPr>
            <a:lvl7pPr>
              <a:defRPr sz="2025" b="0">
                <a:solidFill>
                  <a:srgbClr val="303747"/>
                </a:solidFill>
              </a:defRPr>
            </a:lvl7pPr>
            <a:lvl8pPr>
              <a:defRPr sz="2025" b="0">
                <a:solidFill>
                  <a:srgbClr val="303747"/>
                </a:solidFill>
              </a:defRPr>
            </a:lvl8pPr>
            <a:lvl9pPr>
              <a:defRPr sz="202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3747"/>
                </a:solidFill>
              </a:defRPr>
            </a:pPr>
            <a:r>
              <a:rPr sz="2025" b="0">
                <a:solidFill>
                  <a:srgbClr val="303747"/>
                </a:solidFill>
              </a:rPr>
              <a:t>Interface and visual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AE0BD-4E25-4ADC-97E5-86AAB9D5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B78B3"/>
                </a:solidFill>
              </a:defRPr>
            </a:defPPr>
            <a:lvl1pPr>
              <a:defRPr sz="2250" b="1">
                <a:solidFill>
                  <a:srgbClr val="8B78B3"/>
                </a:solidFill>
              </a:defRPr>
            </a:lvl1pPr>
            <a:lvl2pPr>
              <a:defRPr sz="2250" b="1">
                <a:solidFill>
                  <a:srgbClr val="8B78B3"/>
                </a:solidFill>
              </a:defRPr>
            </a:lvl2pPr>
            <a:lvl3pPr>
              <a:defRPr sz="2250" b="1">
                <a:solidFill>
                  <a:srgbClr val="8B78B3"/>
                </a:solidFill>
              </a:defRPr>
            </a:lvl3pPr>
            <a:lvl4pPr>
              <a:defRPr sz="2250" b="1">
                <a:solidFill>
                  <a:srgbClr val="8B78B3"/>
                </a:solidFill>
              </a:defRPr>
            </a:lvl4pPr>
            <a:lvl5pPr>
              <a:defRPr sz="2250" b="1">
                <a:solidFill>
                  <a:srgbClr val="8B78B3"/>
                </a:solidFill>
              </a:defRPr>
            </a:lvl5pPr>
            <a:lvl6pPr>
              <a:defRPr sz="2250" b="1">
                <a:solidFill>
                  <a:srgbClr val="8B78B3"/>
                </a:solidFill>
              </a:defRPr>
            </a:lvl6pPr>
            <a:lvl7pPr>
              <a:defRPr sz="2250" b="1">
                <a:solidFill>
                  <a:srgbClr val="8B78B3"/>
                </a:solidFill>
              </a:defRPr>
            </a:lvl7pPr>
            <a:lvl8pPr>
              <a:defRPr sz="2250" b="1">
                <a:solidFill>
                  <a:srgbClr val="8B78B3"/>
                </a:solidFill>
              </a:defRPr>
            </a:lvl8pPr>
            <a:lvl9pPr>
              <a:defRPr sz="22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B78B3"/>
                </a:solidFill>
              </a:defRPr>
            </a:pPr>
            <a:r>
              <a:rPr sz="2250" b="1">
                <a:solidFill>
                  <a:srgbClr val="8B78B3"/>
                </a:solidFill>
              </a:rPr>
              <a:t>[Member 4]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4E629-3F2F-48DD-ADB6-D7373CD6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529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3747"/>
                </a:solidFill>
              </a:defRPr>
            </a:defPPr>
            <a:lvl1pPr>
              <a:defRPr sz="2025" b="0">
                <a:solidFill>
                  <a:srgbClr val="303747"/>
                </a:solidFill>
              </a:defRPr>
            </a:lvl1pPr>
            <a:lvl2pPr>
              <a:defRPr sz="2025" b="0">
                <a:solidFill>
                  <a:srgbClr val="303747"/>
                </a:solidFill>
              </a:defRPr>
            </a:lvl2pPr>
            <a:lvl3pPr>
              <a:defRPr sz="2025" b="0">
                <a:solidFill>
                  <a:srgbClr val="303747"/>
                </a:solidFill>
              </a:defRPr>
            </a:lvl3pPr>
            <a:lvl4pPr>
              <a:defRPr sz="2025" b="0">
                <a:solidFill>
                  <a:srgbClr val="303747"/>
                </a:solidFill>
              </a:defRPr>
            </a:lvl4pPr>
            <a:lvl5pPr>
              <a:defRPr sz="2025" b="0">
                <a:solidFill>
                  <a:srgbClr val="303747"/>
                </a:solidFill>
              </a:defRPr>
            </a:lvl5pPr>
            <a:lvl6pPr>
              <a:defRPr sz="2025" b="0">
                <a:solidFill>
                  <a:srgbClr val="303747"/>
                </a:solidFill>
              </a:defRPr>
            </a:lvl6pPr>
            <a:lvl7pPr>
              <a:defRPr sz="2025" b="0">
                <a:solidFill>
                  <a:srgbClr val="303747"/>
                </a:solidFill>
              </a:defRPr>
            </a:lvl7pPr>
            <a:lvl8pPr>
              <a:defRPr sz="2025" b="0">
                <a:solidFill>
                  <a:srgbClr val="303747"/>
                </a:solidFill>
              </a:defRPr>
            </a:lvl8pPr>
            <a:lvl9pPr>
              <a:defRPr sz="202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3747"/>
                </a:solidFill>
              </a:defRPr>
            </a:pPr>
            <a:r>
              <a:rPr sz="2025" b="0">
                <a:solidFill>
                  <a:srgbClr val="303747"/>
                </a:solidFill>
              </a:rPr>
              <a:t>Integration, evidence and pitch</a:t>
            </a:r>
          </a:p>
        </p:txBody>
      </p:sp>
    </p:spTree>
    <p:extLst>
      <p:ext uri="{BB962C8B-B14F-4D97-AF65-F5344CB8AC3E}">
        <p14:creationId xmlns:p14="http://schemas.microsoft.com/office/powerpoint/2010/main" val="769957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1617C-5CB9-4A8C-955F-AEA9D7D9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03 / CHALLENGE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40D30-BF74-47A3-B079-192955CF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Selected 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94BFB-7077-4F9A-AC56-2AF46CF8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AFD08-9EE5-4974-A0F0-5F5A3A7C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34A6A-ED06-4614-AB56-AA0F076B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8B78B3"/>
                </a:solidFill>
              </a:defRPr>
            </a:defPPr>
            <a:lvl1pPr>
              <a:defRPr sz="4350" b="1">
                <a:solidFill>
                  <a:srgbClr val="8B78B3"/>
                </a:solidFill>
              </a:defRPr>
            </a:lvl1pPr>
            <a:lvl2pPr>
              <a:defRPr sz="4350" b="1">
                <a:solidFill>
                  <a:srgbClr val="8B78B3"/>
                </a:solidFill>
              </a:defRPr>
            </a:lvl2pPr>
            <a:lvl3pPr>
              <a:defRPr sz="4350" b="1">
                <a:solidFill>
                  <a:srgbClr val="8B78B3"/>
                </a:solidFill>
              </a:defRPr>
            </a:lvl3pPr>
            <a:lvl4pPr>
              <a:defRPr sz="4350" b="1">
                <a:solidFill>
                  <a:srgbClr val="8B78B3"/>
                </a:solidFill>
              </a:defRPr>
            </a:lvl4pPr>
            <a:lvl5pPr>
              <a:defRPr sz="4350" b="1">
                <a:solidFill>
                  <a:srgbClr val="8B78B3"/>
                </a:solidFill>
              </a:defRPr>
            </a:lvl5pPr>
            <a:lvl6pPr>
              <a:defRPr sz="4350" b="1">
                <a:solidFill>
                  <a:srgbClr val="8B78B3"/>
                </a:solidFill>
              </a:defRPr>
            </a:lvl6pPr>
            <a:lvl7pPr>
              <a:defRPr sz="4350" b="1">
                <a:solidFill>
                  <a:srgbClr val="8B78B3"/>
                </a:solidFill>
              </a:defRPr>
            </a:lvl7pPr>
            <a:lvl8pPr>
              <a:defRPr sz="4350" b="1">
                <a:solidFill>
                  <a:srgbClr val="8B78B3"/>
                </a:solidFill>
              </a:defRPr>
            </a:lvl8pPr>
            <a:lvl9pPr>
              <a:defRPr sz="43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8B78B3"/>
                </a:solidFill>
              </a:defRPr>
            </a:pPr>
            <a:r>
              <a:rPr sz="4350" b="1">
                <a:solidFill>
                  <a:srgbClr val="8B78B3"/>
                </a:solidFill>
              </a:rPr>
              <a:t>Track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15554-F3CD-4C0C-A658-A91D231A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303747"/>
                </a:solidFill>
              </a:defRPr>
            </a:defPPr>
            <a:lvl1pPr>
              <a:defRPr sz="3000" b="0">
                <a:solidFill>
                  <a:srgbClr val="303747"/>
                </a:solidFill>
              </a:defRPr>
            </a:lvl1pPr>
            <a:lvl2pPr>
              <a:defRPr sz="3000" b="0">
                <a:solidFill>
                  <a:srgbClr val="303747"/>
                </a:solidFill>
              </a:defRPr>
            </a:lvl2pPr>
            <a:lvl3pPr>
              <a:defRPr sz="3000" b="0">
                <a:solidFill>
                  <a:srgbClr val="303747"/>
                </a:solidFill>
              </a:defRPr>
            </a:lvl3pPr>
            <a:lvl4pPr>
              <a:defRPr sz="3000" b="0">
                <a:solidFill>
                  <a:srgbClr val="303747"/>
                </a:solidFill>
              </a:defRPr>
            </a:lvl4pPr>
            <a:lvl5pPr>
              <a:defRPr sz="3000" b="0">
                <a:solidFill>
                  <a:srgbClr val="303747"/>
                </a:solidFill>
              </a:defRPr>
            </a:lvl5pPr>
            <a:lvl6pPr>
              <a:defRPr sz="3000" b="0">
                <a:solidFill>
                  <a:srgbClr val="303747"/>
                </a:solidFill>
              </a:defRPr>
            </a:lvl6pPr>
            <a:lvl7pPr>
              <a:defRPr sz="3000" b="0">
                <a:solidFill>
                  <a:srgbClr val="303747"/>
                </a:solidFill>
              </a:defRPr>
            </a:lvl7pPr>
            <a:lvl8pPr>
              <a:defRPr sz="3000" b="0">
                <a:solidFill>
                  <a:srgbClr val="303747"/>
                </a:solidFill>
              </a:defRPr>
            </a:lvl8pPr>
            <a:lvl9pPr>
              <a:defRPr sz="3000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303747"/>
                </a:solidFill>
              </a:defRPr>
            </a:pPr>
            <a:r>
              <a:rPr sz="3000" b="0">
                <a:solidFill>
                  <a:srgbClr val="303747"/>
                </a:solidFill>
              </a:rPr>
              <a:t>AI/ML Methodology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C740F-6CFC-4D39-9E7D-7A8F739E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303747"/>
                </a:solidFill>
              </a:defRPr>
            </a:defPPr>
            <a:lvl1pPr>
              <a:defRPr sz="2925" b="1">
                <a:solidFill>
                  <a:srgbClr val="303747"/>
                </a:solidFill>
              </a:defRPr>
            </a:lvl1pPr>
            <a:lvl2pPr>
              <a:defRPr sz="2925" b="1">
                <a:solidFill>
                  <a:srgbClr val="303747"/>
                </a:solidFill>
              </a:defRPr>
            </a:lvl2pPr>
            <a:lvl3pPr>
              <a:defRPr sz="2925" b="1">
                <a:solidFill>
                  <a:srgbClr val="303747"/>
                </a:solidFill>
              </a:defRPr>
            </a:lvl3pPr>
            <a:lvl4pPr>
              <a:defRPr sz="2925" b="1">
                <a:solidFill>
                  <a:srgbClr val="303747"/>
                </a:solidFill>
              </a:defRPr>
            </a:lvl4pPr>
            <a:lvl5pPr>
              <a:defRPr sz="2925" b="1">
                <a:solidFill>
                  <a:srgbClr val="303747"/>
                </a:solidFill>
              </a:defRPr>
            </a:lvl5pPr>
            <a:lvl6pPr>
              <a:defRPr sz="2925" b="1">
                <a:solidFill>
                  <a:srgbClr val="303747"/>
                </a:solidFill>
              </a:defRPr>
            </a:lvl6pPr>
            <a:lvl7pPr>
              <a:defRPr sz="2925" b="1">
                <a:solidFill>
                  <a:srgbClr val="303747"/>
                </a:solidFill>
              </a:defRPr>
            </a:lvl7pPr>
            <a:lvl8pPr>
              <a:defRPr sz="2925" b="1">
                <a:solidFill>
                  <a:srgbClr val="303747"/>
                </a:solidFill>
              </a:defRPr>
            </a:lvl8pPr>
            <a:lvl9pPr>
              <a:defRPr sz="29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303747"/>
                </a:solidFill>
              </a:defRPr>
            </a:pPr>
            <a:r>
              <a:rPr sz="2925" b="1">
                <a:solidFill>
                  <a:srgbClr val="303747"/>
                </a:solidFill>
              </a:rPr>
              <a:t>Challenge 10: TimeGuard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EABA0-FCD1-43A7-939E-C79B31EB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3747"/>
                </a:solidFill>
              </a:defRPr>
            </a:defPPr>
            <a:lvl1pPr>
              <a:defRPr sz="2250" b="0">
                <a:solidFill>
                  <a:srgbClr val="303747"/>
                </a:solidFill>
              </a:defRPr>
            </a:lvl1pPr>
            <a:lvl2pPr>
              <a:defRPr sz="2250" b="0">
                <a:solidFill>
                  <a:srgbClr val="303747"/>
                </a:solidFill>
              </a:defRPr>
            </a:lvl2pPr>
            <a:lvl3pPr>
              <a:defRPr sz="2250" b="0">
                <a:solidFill>
                  <a:srgbClr val="303747"/>
                </a:solidFill>
              </a:defRPr>
            </a:lvl3pPr>
            <a:lvl4pPr>
              <a:defRPr sz="2250" b="0">
                <a:solidFill>
                  <a:srgbClr val="303747"/>
                </a:solidFill>
              </a:defRPr>
            </a:lvl4pPr>
            <a:lvl5pPr>
              <a:defRPr sz="2250" b="0">
                <a:solidFill>
                  <a:srgbClr val="303747"/>
                </a:solidFill>
              </a:defRPr>
            </a:lvl5pPr>
            <a:lvl6pPr>
              <a:defRPr sz="2250" b="0">
                <a:solidFill>
                  <a:srgbClr val="303747"/>
                </a:solidFill>
              </a:defRPr>
            </a:lvl6pPr>
            <a:lvl7pPr>
              <a:defRPr sz="2250" b="0">
                <a:solidFill>
                  <a:srgbClr val="303747"/>
                </a:solidFill>
              </a:defRPr>
            </a:lvl7pPr>
            <a:lvl8pPr>
              <a:defRPr sz="2250" b="0">
                <a:solidFill>
                  <a:srgbClr val="303747"/>
                </a:solidFill>
              </a:defRPr>
            </a:lvl8pPr>
            <a:lvl9pPr>
              <a:defRPr sz="2250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3747"/>
                </a:solidFill>
              </a:defRPr>
            </a:pPr>
            <a:r>
              <a:rPr sz="2250" b="0">
                <a:solidFill>
                  <a:srgbClr val="303747"/>
                </a:solidFill>
              </a:rPr>
              <a:t>Predicting Machine Failure from Sensor Streams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E49CF-3B80-4424-A15A-5FB2C3DF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47887"/>
                </a:solidFill>
              </a:defRPr>
            </a:defPPr>
            <a:lvl1pPr>
              <a:defRPr sz="1650" b="0">
                <a:solidFill>
                  <a:srgbClr val="747887"/>
                </a:solidFill>
              </a:defRPr>
            </a:lvl1pPr>
            <a:lvl2pPr>
              <a:defRPr sz="1650" b="0">
                <a:solidFill>
                  <a:srgbClr val="747887"/>
                </a:solidFill>
              </a:defRPr>
            </a:lvl2pPr>
            <a:lvl3pPr>
              <a:defRPr sz="1650" b="0">
                <a:solidFill>
                  <a:srgbClr val="747887"/>
                </a:solidFill>
              </a:defRPr>
            </a:lvl3pPr>
            <a:lvl4pPr>
              <a:defRPr sz="1650" b="0">
                <a:solidFill>
                  <a:srgbClr val="747887"/>
                </a:solidFill>
              </a:defRPr>
            </a:lvl4pPr>
            <a:lvl5pPr>
              <a:defRPr sz="1650" b="0">
                <a:solidFill>
                  <a:srgbClr val="747887"/>
                </a:solidFill>
              </a:defRPr>
            </a:lvl5pPr>
            <a:lvl6pPr>
              <a:defRPr sz="1650" b="0">
                <a:solidFill>
                  <a:srgbClr val="747887"/>
                </a:solidFill>
              </a:defRPr>
            </a:lvl6pPr>
            <a:lvl7pPr>
              <a:defRPr sz="1650" b="0">
                <a:solidFill>
                  <a:srgbClr val="747887"/>
                </a:solidFill>
              </a:defRPr>
            </a:lvl7pPr>
            <a:lvl8pPr>
              <a:defRPr sz="1650" b="0">
                <a:solidFill>
                  <a:srgbClr val="747887"/>
                </a:solidFill>
              </a:defRPr>
            </a:lvl8pPr>
            <a:lvl9pPr>
              <a:defRPr sz="1650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47887"/>
                </a:solidFill>
              </a:defRPr>
            </a:pPr>
            <a:r>
              <a:rPr sz="1650" b="0">
                <a:solidFill>
                  <a:srgbClr val="747887"/>
                </a:solidFill>
              </a:rPr>
              <a:t>Difficulty: Intermediate to Advanced</a:t>
            </a:r>
          </a:p>
        </p:txBody>
      </p:sp>
    </p:spTree>
    <p:extLst>
      <p:ext uri="{BB962C8B-B14F-4D97-AF65-F5344CB8AC3E}">
        <p14:creationId xmlns:p14="http://schemas.microsoft.com/office/powerpoint/2010/main" val="1787856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A67BC-51CA-4D07-AF07-42CC26E0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04 / INDUSTRIAL PAIN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9FEE6-5545-4687-9C37-547FD9E5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Problem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11E7B-A370-43C7-8021-CACB589B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684AE-CB0E-47FC-A27D-FCA4DAE1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7878B-6DC1-44C7-9347-047E1ADC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Late warnings are costly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CD06B-363D-49D2-BCEA-773BC56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Overestimated remaining life delays intervention until an avoidable outage. A low average error can hide expensive late predictions.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2B9B1-5972-478E-AA83-78A14B56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Repeated alerts erode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FE779-F0C2-445B-9F46-1282E138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Noisy sensors and short spikes create alert fatigue. Operators need persistent evidence and a useful maintenance horizon.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F1C55-ED56-4E89-9C4F-8943FE43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8B78B3"/>
                </a:solidFill>
              </a:defRPr>
            </a:defPPr>
            <a:lvl1pPr>
              <a:defRPr sz="2175" b="1">
                <a:solidFill>
                  <a:srgbClr val="8B78B3"/>
                </a:solidFill>
              </a:defRPr>
            </a:lvl1pPr>
            <a:lvl2pPr>
              <a:defRPr sz="2175" b="1">
                <a:solidFill>
                  <a:srgbClr val="8B78B3"/>
                </a:solidFill>
              </a:defRPr>
            </a:lvl2pPr>
            <a:lvl3pPr>
              <a:defRPr sz="2175" b="1">
                <a:solidFill>
                  <a:srgbClr val="8B78B3"/>
                </a:solidFill>
              </a:defRPr>
            </a:lvl3pPr>
            <a:lvl4pPr>
              <a:defRPr sz="2175" b="1">
                <a:solidFill>
                  <a:srgbClr val="8B78B3"/>
                </a:solidFill>
              </a:defRPr>
            </a:lvl4pPr>
            <a:lvl5pPr>
              <a:defRPr sz="2175" b="1">
                <a:solidFill>
                  <a:srgbClr val="8B78B3"/>
                </a:solidFill>
              </a:defRPr>
            </a:lvl5pPr>
            <a:lvl6pPr>
              <a:defRPr sz="2175" b="1">
                <a:solidFill>
                  <a:srgbClr val="8B78B3"/>
                </a:solidFill>
              </a:defRPr>
            </a:lvl6pPr>
            <a:lvl7pPr>
              <a:defRPr sz="2175" b="1">
                <a:solidFill>
                  <a:srgbClr val="8B78B3"/>
                </a:solidFill>
              </a:defRPr>
            </a:lvl7pPr>
            <a:lvl8pPr>
              <a:defRPr sz="2175" b="1">
                <a:solidFill>
                  <a:srgbClr val="8B78B3"/>
                </a:solidFill>
              </a:defRPr>
            </a:lvl8pPr>
            <a:lvl9pPr>
              <a:defRPr sz="217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B78B3"/>
                </a:solidFill>
              </a:defRPr>
            </a:pPr>
            <a:r>
              <a:rPr sz="2175" b="1">
                <a:solidFill>
                  <a:srgbClr val="8B78B3"/>
                </a:solidFill>
              </a:rPr>
              <a:t>Drift, missing packets and operating changes can invalidate a confident forecast.</a:t>
            </a:r>
          </a:p>
        </p:txBody>
      </p:sp>
    </p:spTree>
    <p:extLst>
      <p:ext uri="{BB962C8B-B14F-4D97-AF65-F5344CB8AC3E}">
        <p14:creationId xmlns:p14="http://schemas.microsoft.com/office/powerpoint/2010/main" val="1302622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DE50E-52A7-41CE-AC16-90DF0E2A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05 / OPERATOR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FF905-1240-4E86-97E3-ADCC2877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393C9-8467-404A-ACB8-B5E98E64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A4366-0C66-4B50-84A6-0B2360E5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957BE-9D58-4728-BFDF-E3D4E176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A range for maintenance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43581-D5D3-423A-BABF-4753546A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Forecast remaining useful life, show a prediction interval, and require persistent threshold crossings before escalating a maintenance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CA14F-EC65-459F-B44B-857CE87A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Evidence for an operator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2FB2A-1FC9-45B8-A28E-04C273FC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Explain sensor contributions, preserve telemetry freshness, and request review when the input leaves its validated envelope.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0F677-5C97-4FEE-BFE9-02EC5AE9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Live replay, perturbation controls and export make the concept demonstrable with zero hardware.</a:t>
            </a:r>
          </a:p>
        </p:txBody>
      </p:sp>
    </p:spTree>
    <p:extLst>
      <p:ext uri="{BB962C8B-B14F-4D97-AF65-F5344CB8AC3E}">
        <p14:creationId xmlns:p14="http://schemas.microsoft.com/office/powerpoint/2010/main" val="1777968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27D33-03A7-4A2E-B7F1-10E24574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06 / 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241DB-FD96-46EA-8DF6-3CCCF5B8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Innovation / novelty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07867-B5EB-42D9-8FB3-95D720E9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86FFF-456F-4123-9E85-8F3CBEBF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136FE-587B-4DA6-9F77-A7DF851E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Asymmetric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2F853-F85A-4BA0-8AFF-9B5BED23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716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A lower decision quantile reflects a higher cost for late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A36AE-5AFA-44AC-904F-71368B74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Measured uncertainty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25FA6-6AFD-4514-945D-E0673042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33700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Conformal calibration reports coverage together with interval width.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AC601-1CD6-44CF-9C9F-3A4862B6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Actionable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6E5AD-46D1-497E-BA78-9B2A4B6F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95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Local model attribution connects the forecast to observed sensor trends.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1C771-02C4-406A-915C-76CF3614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3476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Quality-aware alerts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42226-E6B2-465B-B97A-A2869EB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57750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Persistence, hysteresis and review states control alert fatigue.</a:t>
            </a:r>
          </a:p>
        </p:txBody>
      </p:sp>
    </p:spTree>
    <p:extLst>
      <p:ext uri="{BB962C8B-B14F-4D97-AF65-F5344CB8AC3E}">
        <p14:creationId xmlns:p14="http://schemas.microsoft.com/office/powerpoint/2010/main" val="2114046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43825-D5A4-4E62-B56A-0EEE479C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07 / MODELS AND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8B647-A484-488C-841A-EAB86C74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Proposed technology / AI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B4F0C-03A9-47E9-973A-E4437636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269D2-224B-41A4-8B12-DBC146B0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35740-D2D8-400D-816B-176E2C09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C-MAPSS: sequential RUL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ED250-E05C-45F1-8E35-F0E8073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30-cycle causal EMA windows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Trailing moments and slopes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Boosted 5th / 50th / 95th quantiles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Held-out engine calibration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75F6A-B5B7-4C71-9415-B40E08BA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AI4I: separate diagnosis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F9BD1-AF21-4763-AA23-8938F059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Physical process and type inputs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Binary failure + five mode labels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Balanced random forests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No IDs or target labels as 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56F58-A17F-4BCE-AB9E-C7EB7390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Decision quantile τ = 0.20 for an illustrative 4:1 late-to-early cost ratio. RUL training cap: 125 cycles.</a:t>
            </a:r>
          </a:p>
        </p:txBody>
      </p:sp>
    </p:spTree>
    <p:extLst>
      <p:ext uri="{BB962C8B-B14F-4D97-AF65-F5344CB8AC3E}">
        <p14:creationId xmlns:p14="http://schemas.microsoft.com/office/powerpoint/2010/main" val="1420313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118E4-301F-4585-88ED-E6F568685AF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752600" y="2952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BAB6A-52ED-44B4-AAAF-B3EB7EE82FC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95600" y="44291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1BA00-B770-4EDF-8A98-1A74E2C2DE19}"/>
              </a:ext>
            </a:extLst>
          </p:cNvPr>
          <p:cNvCxnSpPr>
            <a:stCxn xmlns:a="http://schemas.openxmlformats.org/drawingml/2006/main" id="1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5810250" y="44291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6B89D-A6CA-4820-AC4C-E4F14D837F52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8724900" y="44291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3BD78-5F7D-4D10-A27A-9036BA9B0B2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0472738" y="2952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7C4AF-1000-4B55-99CA-7F677FB9D65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24900" y="2476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0AD4D-46BB-4249-B858-63B0A5DFD32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2476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98755-0901-4376-B483-807A0A790E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95600" y="2476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88AC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C1AD5-C960-4ECB-A830-5A05EC3E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08 / END-TO-END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C0334-D289-47CC-8650-1EB6ADF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Technical approach flowchart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B2070-1EBF-4B70-BC0C-A8B7EA13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FD908-E50B-4E86-AE15-37E3DFC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9517F-17CA-4260-AFFE-E6ED5E50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Engine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telemetry prefix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5C617-FD11-4D62-8019-2BD8A0C5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1E9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Validate +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causal 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F6D53-76A8-4A6D-AC7C-ED9F6F49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E6DB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Quantile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RUL forecasts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D4C4F-7251-497A-8460-B6E1DF58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238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EED6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Held-out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calibration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71853-DC4E-4E6C-A819-2F5D20BB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Local TreeSHAP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sensor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A6380-B2D6-4B76-BAA3-840E5328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3F1E9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Operator review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and evidence 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2B294-EBFE-426D-B209-8E2B6CC5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E6DB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Quality gate +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persistent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7F788-D20A-4926-938A-85668097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0525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EED6"/>
          </a:solidFill>
          <a:ln xmlns:a="http://schemas.openxmlformats.org/drawingml/2006/main" w="9525">
            <a:solidFill>
              <a:srgbClr val="D9D5D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303747"/>
                </a:solidFill>
              </a:defRPr>
            </a:defPPr>
            <a:lvl1pPr algn="ctr">
              <a:defRPr sz="1725">
                <a:solidFill>
                  <a:srgbClr val="303747"/>
                </a:solidFill>
              </a:defRPr>
            </a:lvl1pPr>
            <a:lvl2pPr algn="ctr">
              <a:defRPr sz="1725">
                <a:solidFill>
                  <a:srgbClr val="303747"/>
                </a:solidFill>
              </a:defRPr>
            </a:lvl2pPr>
            <a:lvl3pPr algn="ctr">
              <a:defRPr sz="1725">
                <a:solidFill>
                  <a:srgbClr val="303747"/>
                </a:solidFill>
              </a:defRPr>
            </a:lvl3pPr>
            <a:lvl4pPr algn="ctr">
              <a:defRPr sz="1725">
                <a:solidFill>
                  <a:srgbClr val="303747"/>
                </a:solidFill>
              </a:defRPr>
            </a:lvl4pPr>
            <a:lvl5pPr algn="ctr">
              <a:defRPr sz="1725">
                <a:solidFill>
                  <a:srgbClr val="303747"/>
                </a:solidFill>
              </a:defRPr>
            </a:lvl5pPr>
            <a:lvl6pPr algn="ctr">
              <a:defRPr sz="1725">
                <a:solidFill>
                  <a:srgbClr val="303747"/>
                </a:solidFill>
              </a:defRPr>
            </a:lvl6pPr>
            <a:lvl7pPr algn="ctr">
              <a:defRPr sz="1725">
                <a:solidFill>
                  <a:srgbClr val="303747"/>
                </a:solidFill>
              </a:defRPr>
            </a:lvl7pPr>
            <a:lvl8pPr algn="ctr">
              <a:defRPr sz="1725">
                <a:solidFill>
                  <a:srgbClr val="303747"/>
                </a:solidFill>
              </a:defRPr>
            </a:lvl8pPr>
            <a:lvl9pPr algn="ctr">
              <a:defRPr sz="1725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Calibrated</a:t>
            </a:r>
          </a:p>
          <a:p xmlns:a="http://schemas.openxmlformats.org/drawingml/2006/main">
            <a:pPr algn="ctr">
              <a:defRPr sz="1725">
                <a:solidFill>
                  <a:srgbClr val="303747"/>
                </a:solidFill>
              </a:defRPr>
            </a:pPr>
            <a:r>
              <a:rPr sz="1725">
                <a:solidFill>
                  <a:srgbClr val="303747"/>
                </a:solidFill>
              </a:rPr>
              <a:t>RUL interval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6DCC4-4A96-4B80-9249-CE4E927C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47887"/>
                </a:solidFill>
              </a:defRPr>
            </a:defPPr>
            <a:lvl1pPr>
              <a:defRPr sz="1650" b="0">
                <a:solidFill>
                  <a:srgbClr val="747887"/>
                </a:solidFill>
              </a:defRPr>
            </a:lvl1pPr>
            <a:lvl2pPr>
              <a:defRPr sz="1650" b="0">
                <a:solidFill>
                  <a:srgbClr val="747887"/>
                </a:solidFill>
              </a:defRPr>
            </a:lvl2pPr>
            <a:lvl3pPr>
              <a:defRPr sz="1650" b="0">
                <a:solidFill>
                  <a:srgbClr val="747887"/>
                </a:solidFill>
              </a:defRPr>
            </a:lvl3pPr>
            <a:lvl4pPr>
              <a:defRPr sz="1650" b="0">
                <a:solidFill>
                  <a:srgbClr val="747887"/>
                </a:solidFill>
              </a:defRPr>
            </a:lvl4pPr>
            <a:lvl5pPr>
              <a:defRPr sz="1650" b="0">
                <a:solidFill>
                  <a:srgbClr val="747887"/>
                </a:solidFill>
              </a:defRPr>
            </a:lvl5pPr>
            <a:lvl6pPr>
              <a:defRPr sz="1650" b="0">
                <a:solidFill>
                  <a:srgbClr val="747887"/>
                </a:solidFill>
              </a:defRPr>
            </a:lvl6pPr>
            <a:lvl7pPr>
              <a:defRPr sz="1650" b="0">
                <a:solidFill>
                  <a:srgbClr val="747887"/>
                </a:solidFill>
              </a:defRPr>
            </a:lvl7pPr>
            <a:lvl8pPr>
              <a:defRPr sz="1650" b="0">
                <a:solidFill>
                  <a:srgbClr val="747887"/>
                </a:solidFill>
              </a:defRPr>
            </a:lvl8pPr>
            <a:lvl9pPr>
              <a:defRPr sz="1650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47887"/>
                </a:solidFill>
              </a:defRPr>
            </a:pPr>
            <a:r>
              <a:rPr sz="1650" b="0">
                <a:solidFill>
                  <a:srgbClr val="747887"/>
                </a:solidFill>
              </a:rPr>
              <a:t>Separate AI4I branch: manufacturing snapshot → binary failure + multilabel modes → diagnosis workbench</a:t>
            </a:r>
          </a:p>
        </p:txBody>
      </p:sp>
    </p:spTree>
    <p:extLst>
      <p:ext uri="{BB962C8B-B14F-4D97-AF65-F5344CB8AC3E}">
        <p14:creationId xmlns:p14="http://schemas.microsoft.com/office/powerpoint/2010/main" val="17210740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C7E8C-AD3C-434E-BE4B-3B8CDF5D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09 / TARGETS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854ED-BCF6-46C3-B070-9852D05E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Expected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51D1E-AD47-4636-B7E5-FDE986D9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9B460-B3BE-44AD-A8A2-40B9D301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4C983-3765-4394-B021-EADC6C6A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8B78B3"/>
                </a:solidFill>
              </a:defRPr>
            </a:defPPr>
            <a:lvl1pPr>
              <a:defRPr sz="5400" b="1">
                <a:solidFill>
                  <a:srgbClr val="8B78B3"/>
                </a:solidFill>
              </a:defRPr>
            </a:lvl1pPr>
            <a:lvl2pPr>
              <a:defRPr sz="5400" b="1">
                <a:solidFill>
                  <a:srgbClr val="8B78B3"/>
                </a:solidFill>
              </a:defRPr>
            </a:lvl2pPr>
            <a:lvl3pPr>
              <a:defRPr sz="5400" b="1">
                <a:solidFill>
                  <a:srgbClr val="8B78B3"/>
                </a:solidFill>
              </a:defRPr>
            </a:lvl3pPr>
            <a:lvl4pPr>
              <a:defRPr sz="5400" b="1">
                <a:solidFill>
                  <a:srgbClr val="8B78B3"/>
                </a:solidFill>
              </a:defRPr>
            </a:lvl4pPr>
            <a:lvl5pPr>
              <a:defRPr sz="5400" b="1">
                <a:solidFill>
                  <a:srgbClr val="8B78B3"/>
                </a:solidFill>
              </a:defRPr>
            </a:lvl5pPr>
            <a:lvl6pPr>
              <a:defRPr sz="5400" b="1">
                <a:solidFill>
                  <a:srgbClr val="8B78B3"/>
                </a:solidFill>
              </a:defRPr>
            </a:lvl6pPr>
            <a:lvl7pPr>
              <a:defRPr sz="5400" b="1">
                <a:solidFill>
                  <a:srgbClr val="8B78B3"/>
                </a:solidFill>
              </a:defRPr>
            </a:lvl7pPr>
            <a:lvl8pPr>
              <a:defRPr sz="5400" b="1">
                <a:solidFill>
                  <a:srgbClr val="8B78B3"/>
                </a:solidFill>
              </a:defRPr>
            </a:lvl8pPr>
            <a:lvl9pPr>
              <a:defRPr sz="54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8B78B3"/>
                </a:solidFill>
              </a:defRPr>
            </a:pPr>
            <a:r>
              <a:rPr sz="5400" b="1">
                <a:solidFill>
                  <a:srgbClr val="8B78B3"/>
                </a:solidFill>
              </a:rPr>
              <a:t>20%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8DFF7-F4E0-47CC-9223-7DD40C04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03747"/>
                </a:solidFill>
              </a:defRPr>
            </a:defPPr>
            <a:lvl1pPr>
              <a:defRPr sz="1800" b="0">
                <a:solidFill>
                  <a:srgbClr val="303747"/>
                </a:solidFill>
              </a:defRPr>
            </a:lvl1pPr>
            <a:lvl2pPr>
              <a:defRPr sz="1800" b="0">
                <a:solidFill>
                  <a:srgbClr val="303747"/>
                </a:solidFill>
              </a:defRPr>
            </a:lvl2pPr>
            <a:lvl3pPr>
              <a:defRPr sz="1800" b="0">
                <a:solidFill>
                  <a:srgbClr val="303747"/>
                </a:solidFill>
              </a:defRPr>
            </a:lvl3pPr>
            <a:lvl4pPr>
              <a:defRPr sz="1800" b="0">
                <a:solidFill>
                  <a:srgbClr val="303747"/>
                </a:solidFill>
              </a:defRPr>
            </a:lvl4pPr>
            <a:lvl5pPr>
              <a:defRPr sz="1800" b="0">
                <a:solidFill>
                  <a:srgbClr val="303747"/>
                </a:solidFill>
              </a:defRPr>
            </a:lvl5pPr>
            <a:lvl6pPr>
              <a:defRPr sz="1800" b="0">
                <a:solidFill>
                  <a:srgbClr val="303747"/>
                </a:solidFill>
              </a:defRPr>
            </a:lvl6pPr>
            <a:lvl7pPr>
              <a:defRPr sz="1800" b="0">
                <a:solidFill>
                  <a:srgbClr val="303747"/>
                </a:solidFill>
              </a:defRPr>
            </a:lvl7pPr>
            <a:lvl8pPr>
              <a:defRPr sz="1800" b="0">
                <a:solidFill>
                  <a:srgbClr val="303747"/>
                </a:solidFill>
              </a:defRPr>
            </a:lvl8pPr>
            <a:lvl9pPr>
              <a:defRPr sz="1800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Target reduction in simulated</a:t>
            </a:r>
          </a:p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decision cost versus a tuned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F36D4-06BB-4FAC-925F-692B9B17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8B78B3"/>
                </a:solidFill>
              </a:defRPr>
            </a:defPPr>
            <a:lvl1pPr>
              <a:defRPr sz="5400" b="1">
                <a:solidFill>
                  <a:srgbClr val="8B78B3"/>
                </a:solidFill>
              </a:defRPr>
            </a:lvl1pPr>
            <a:lvl2pPr>
              <a:defRPr sz="5400" b="1">
                <a:solidFill>
                  <a:srgbClr val="8B78B3"/>
                </a:solidFill>
              </a:defRPr>
            </a:lvl2pPr>
            <a:lvl3pPr>
              <a:defRPr sz="5400" b="1">
                <a:solidFill>
                  <a:srgbClr val="8B78B3"/>
                </a:solidFill>
              </a:defRPr>
            </a:lvl3pPr>
            <a:lvl4pPr>
              <a:defRPr sz="5400" b="1">
                <a:solidFill>
                  <a:srgbClr val="8B78B3"/>
                </a:solidFill>
              </a:defRPr>
            </a:lvl4pPr>
            <a:lvl5pPr>
              <a:defRPr sz="5400" b="1">
                <a:solidFill>
                  <a:srgbClr val="8B78B3"/>
                </a:solidFill>
              </a:defRPr>
            </a:lvl5pPr>
            <a:lvl6pPr>
              <a:defRPr sz="5400" b="1">
                <a:solidFill>
                  <a:srgbClr val="8B78B3"/>
                </a:solidFill>
              </a:defRPr>
            </a:lvl6pPr>
            <a:lvl7pPr>
              <a:defRPr sz="5400" b="1">
                <a:solidFill>
                  <a:srgbClr val="8B78B3"/>
                </a:solidFill>
              </a:defRPr>
            </a:lvl7pPr>
            <a:lvl8pPr>
              <a:defRPr sz="5400" b="1">
                <a:solidFill>
                  <a:srgbClr val="8B78B3"/>
                </a:solidFill>
              </a:defRPr>
            </a:lvl8pPr>
            <a:lvl9pPr>
              <a:defRPr sz="54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8B78B3"/>
                </a:solidFill>
              </a:defRPr>
            </a:pPr>
            <a:r>
              <a:rPr sz="5400" b="1">
                <a:solidFill>
                  <a:srgbClr val="8B78B3"/>
                </a:solidFill>
              </a:rPr>
              <a:t>90%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065F1-7F64-44C2-96A9-8C07FDC4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03747"/>
                </a:solidFill>
              </a:defRPr>
            </a:defPPr>
            <a:lvl1pPr>
              <a:defRPr sz="1800" b="0">
                <a:solidFill>
                  <a:srgbClr val="303747"/>
                </a:solidFill>
              </a:defRPr>
            </a:lvl1pPr>
            <a:lvl2pPr>
              <a:defRPr sz="1800" b="0">
                <a:solidFill>
                  <a:srgbClr val="303747"/>
                </a:solidFill>
              </a:defRPr>
            </a:lvl2pPr>
            <a:lvl3pPr>
              <a:defRPr sz="1800" b="0">
                <a:solidFill>
                  <a:srgbClr val="303747"/>
                </a:solidFill>
              </a:defRPr>
            </a:lvl3pPr>
            <a:lvl4pPr>
              <a:defRPr sz="1800" b="0">
                <a:solidFill>
                  <a:srgbClr val="303747"/>
                </a:solidFill>
              </a:defRPr>
            </a:lvl4pPr>
            <a:lvl5pPr>
              <a:defRPr sz="1800" b="0">
                <a:solidFill>
                  <a:srgbClr val="303747"/>
                </a:solidFill>
              </a:defRPr>
            </a:lvl5pPr>
            <a:lvl6pPr>
              <a:defRPr sz="1800" b="0">
                <a:solidFill>
                  <a:srgbClr val="303747"/>
                </a:solidFill>
              </a:defRPr>
            </a:lvl6pPr>
            <a:lvl7pPr>
              <a:defRPr sz="1800" b="0">
                <a:solidFill>
                  <a:srgbClr val="303747"/>
                </a:solidFill>
              </a:defRPr>
            </a:lvl7pPr>
            <a:lvl8pPr>
              <a:defRPr sz="1800" b="0">
                <a:solidFill>
                  <a:srgbClr val="303747"/>
                </a:solidFill>
              </a:defRPr>
            </a:lvl8pPr>
            <a:lvl9pPr>
              <a:defRPr sz="1800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Nominal interval coverage</a:t>
            </a:r>
          </a:p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with measured width and assumptions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F6FE7-F3E3-49DE-A5D6-E6648FAB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8B78B3"/>
                </a:solidFill>
              </a:defRPr>
            </a:defPPr>
            <a:lvl1pPr>
              <a:defRPr sz="4875" b="1">
                <a:solidFill>
                  <a:srgbClr val="8B78B3"/>
                </a:solidFill>
              </a:defRPr>
            </a:lvl1pPr>
            <a:lvl2pPr>
              <a:defRPr sz="4875" b="1">
                <a:solidFill>
                  <a:srgbClr val="8B78B3"/>
                </a:solidFill>
              </a:defRPr>
            </a:lvl2pPr>
            <a:lvl3pPr>
              <a:defRPr sz="4875" b="1">
                <a:solidFill>
                  <a:srgbClr val="8B78B3"/>
                </a:solidFill>
              </a:defRPr>
            </a:lvl3pPr>
            <a:lvl4pPr>
              <a:defRPr sz="4875" b="1">
                <a:solidFill>
                  <a:srgbClr val="8B78B3"/>
                </a:solidFill>
              </a:defRPr>
            </a:lvl4pPr>
            <a:lvl5pPr>
              <a:defRPr sz="4875" b="1">
                <a:solidFill>
                  <a:srgbClr val="8B78B3"/>
                </a:solidFill>
              </a:defRPr>
            </a:lvl5pPr>
            <a:lvl6pPr>
              <a:defRPr sz="4875" b="1">
                <a:solidFill>
                  <a:srgbClr val="8B78B3"/>
                </a:solidFill>
              </a:defRPr>
            </a:lvl6pPr>
            <a:lvl7pPr>
              <a:defRPr sz="4875" b="1">
                <a:solidFill>
                  <a:srgbClr val="8B78B3"/>
                </a:solidFill>
              </a:defRPr>
            </a:lvl7pPr>
            <a:lvl8pPr>
              <a:defRPr sz="4875" b="1">
                <a:solidFill>
                  <a:srgbClr val="8B78B3"/>
                </a:solidFill>
              </a:defRPr>
            </a:lvl8pPr>
            <a:lvl9pPr>
              <a:defRPr sz="487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8B78B3"/>
                </a:solidFill>
              </a:defRPr>
            </a:pPr>
            <a:r>
              <a:rPr sz="4875" b="1">
                <a:solidFill>
                  <a:srgbClr val="8B78B3"/>
                </a:solidFill>
              </a:rPr>
              <a:t>&lt;100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01BCE-734B-4B08-9B72-9409D5F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03747"/>
                </a:solidFill>
              </a:defRPr>
            </a:defPPr>
            <a:lvl1pPr>
              <a:defRPr sz="1800" b="0">
                <a:solidFill>
                  <a:srgbClr val="303747"/>
                </a:solidFill>
              </a:defRPr>
            </a:lvl1pPr>
            <a:lvl2pPr>
              <a:defRPr sz="1800" b="0">
                <a:solidFill>
                  <a:srgbClr val="303747"/>
                </a:solidFill>
              </a:defRPr>
            </a:lvl2pPr>
            <a:lvl3pPr>
              <a:defRPr sz="1800" b="0">
                <a:solidFill>
                  <a:srgbClr val="303747"/>
                </a:solidFill>
              </a:defRPr>
            </a:lvl3pPr>
            <a:lvl4pPr>
              <a:defRPr sz="1800" b="0">
                <a:solidFill>
                  <a:srgbClr val="303747"/>
                </a:solidFill>
              </a:defRPr>
            </a:lvl4pPr>
            <a:lvl5pPr>
              <a:defRPr sz="1800" b="0">
                <a:solidFill>
                  <a:srgbClr val="303747"/>
                </a:solidFill>
              </a:defRPr>
            </a:lvl5pPr>
            <a:lvl6pPr>
              <a:defRPr sz="1800" b="0">
                <a:solidFill>
                  <a:srgbClr val="303747"/>
                </a:solidFill>
              </a:defRPr>
            </a:lvl6pPr>
            <a:lvl7pPr>
              <a:defRPr sz="1800" b="0">
                <a:solidFill>
                  <a:srgbClr val="303747"/>
                </a:solidFill>
              </a:defRPr>
            </a:lvl7pPr>
            <a:lvl8pPr>
              <a:defRPr sz="1800" b="0">
                <a:solidFill>
                  <a:srgbClr val="303747"/>
                </a:solidFill>
              </a:defRPr>
            </a:lvl8pPr>
            <a:lvl9pPr>
              <a:defRPr sz="1800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Target model-only p95 latency</a:t>
            </a:r>
          </a:p>
          <a:p xmlns:a="http://schemas.openxmlformats.org/drawingml/2006/main">
            <a:pPr>
              <a:defRPr sz="1800" b="0">
                <a:solidFill>
                  <a:srgbClr val="303747"/>
                </a:solidFill>
              </a:defRPr>
            </a:pPr>
            <a:r>
              <a:rPr sz="1800" b="0">
                <a:solidFill>
                  <a:srgbClr val="303747"/>
                </a:solidFill>
              </a:rPr>
              <a:t>on a declared CPU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282D6-E9C0-41C9-9287-35C1E7A6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303747"/>
                </a:solidFill>
              </a:defRPr>
            </a:defPPr>
            <a:lvl1pPr>
              <a:defRPr sz="2550" b="1">
                <a:solidFill>
                  <a:srgbClr val="303747"/>
                </a:solidFill>
              </a:defRPr>
            </a:lvl1pPr>
            <a:lvl2pPr>
              <a:defRPr sz="2550" b="1">
                <a:solidFill>
                  <a:srgbClr val="303747"/>
                </a:solidFill>
              </a:defRPr>
            </a:lvl2pPr>
            <a:lvl3pPr>
              <a:defRPr sz="2550" b="1">
                <a:solidFill>
                  <a:srgbClr val="303747"/>
                </a:solidFill>
              </a:defRPr>
            </a:lvl3pPr>
            <a:lvl4pPr>
              <a:defRPr sz="2550" b="1">
                <a:solidFill>
                  <a:srgbClr val="303747"/>
                </a:solidFill>
              </a:defRPr>
            </a:lvl4pPr>
            <a:lvl5pPr>
              <a:defRPr sz="2550" b="1">
                <a:solidFill>
                  <a:srgbClr val="303747"/>
                </a:solidFill>
              </a:defRPr>
            </a:lvl5pPr>
            <a:lvl6pPr>
              <a:defRPr sz="2550" b="1">
                <a:solidFill>
                  <a:srgbClr val="303747"/>
                </a:solidFill>
              </a:defRPr>
            </a:lvl6pPr>
            <a:lvl7pPr>
              <a:defRPr sz="2550" b="1">
                <a:solidFill>
                  <a:srgbClr val="303747"/>
                </a:solidFill>
              </a:defRPr>
            </a:lvl7pPr>
            <a:lvl8pPr>
              <a:defRPr sz="2550" b="1">
                <a:solidFill>
                  <a:srgbClr val="303747"/>
                </a:solidFill>
              </a:defRPr>
            </a:lvl8pPr>
            <a:lvl9pPr>
              <a:defRPr sz="2550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303747"/>
                </a:solidFill>
              </a:defRPr>
            </a:pPr>
            <a:r>
              <a:rPr sz="2550" b="1">
                <a:solidFill>
                  <a:srgbClr val="303747"/>
                </a:solidFill>
              </a:rPr>
              <a:t>Illustrative gross value: ₹20 lakh/year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B85A9-C979-40B0-ABBC-18E77FCF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47887"/>
                </a:solidFill>
              </a:defRPr>
            </a:defPPr>
            <a:lvl1pPr>
              <a:defRPr sz="1725" b="0">
                <a:solidFill>
                  <a:srgbClr val="747887"/>
                </a:solidFill>
              </a:defRPr>
            </a:lvl1pPr>
            <a:lvl2pPr>
              <a:defRPr sz="1725" b="0">
                <a:solidFill>
                  <a:srgbClr val="747887"/>
                </a:solidFill>
              </a:defRPr>
            </a:lvl2pPr>
            <a:lvl3pPr>
              <a:defRPr sz="1725" b="0">
                <a:solidFill>
                  <a:srgbClr val="747887"/>
                </a:solidFill>
              </a:defRPr>
            </a:lvl3pPr>
            <a:lvl4pPr>
              <a:defRPr sz="1725" b="0">
                <a:solidFill>
                  <a:srgbClr val="747887"/>
                </a:solidFill>
              </a:defRPr>
            </a:lvl4pPr>
            <a:lvl5pPr>
              <a:defRPr sz="1725" b="0">
                <a:solidFill>
                  <a:srgbClr val="747887"/>
                </a:solidFill>
              </a:defRPr>
            </a:lvl5pPr>
            <a:lvl6pPr>
              <a:defRPr sz="1725" b="0">
                <a:solidFill>
                  <a:srgbClr val="747887"/>
                </a:solidFill>
              </a:defRPr>
            </a:lvl6pPr>
            <a:lvl7pPr>
              <a:defRPr sz="1725" b="0">
                <a:solidFill>
                  <a:srgbClr val="747887"/>
                </a:solidFill>
              </a:defRPr>
            </a:lvl7pPr>
            <a:lvl8pPr>
              <a:defRPr sz="1725" b="0">
                <a:solidFill>
                  <a:srgbClr val="747887"/>
                </a:solidFill>
              </a:defRPr>
            </a:lvl8pPr>
            <a:lvl9pPr>
              <a:defRPr sz="172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47887"/>
                </a:solidFill>
              </a:defRPr>
            </a:pPr>
            <a:r>
              <a:rPr sz="1725" b="0">
                <a:solidFill>
                  <a:srgbClr val="747887"/>
                </a:solidFill>
              </a:rPr>
              <a:t>10 avoided outages × 4 hours × ₹50,000/hour. Subtract maintenance and deployment costs.</a:t>
            </a:r>
          </a:p>
        </p:txBody>
      </p:sp>
    </p:spTree>
    <p:extLst>
      <p:ext uri="{BB962C8B-B14F-4D97-AF65-F5344CB8AC3E}">
        <p14:creationId xmlns:p14="http://schemas.microsoft.com/office/powerpoint/2010/main" val="11856422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64F2E-64CA-423E-8C39-5856BED9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10 / 7.5-HOUR EXECUTION WINDOW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AF1A3-DECE-4ED2-9E5C-69D41062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Brief implementation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17AFE-22EB-4A1B-902A-D8B55AFC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C228A-1907-429E-9B79-EA0A1725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1EB70-A61B-4643-A815-941A258D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00:00–01:30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3E4FC-8119-499F-8F00-4FC4756A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Data validation, causal features and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5F04D-BEC2-426D-8325-A1D97C72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01:30–03:15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D7AB8-8CBD-4B48-8F60-AEA5DB5C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7177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RUL quantiles, conformal calibration and AI4I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96081-0DE0-4B77-969D-C36520BB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03:15–04:45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109A7-9AA9-42A7-8A03-14765265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Replay, maintenance policy and local explanations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39DD2-F230-4627-B5F8-AB6FC25A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04:45–06:00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E5167-8778-43CC-9923-675D5AD3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529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Locked evaluation, ablations and stable core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40F95-7FEB-4B30-97EA-6EAD3430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B78B3"/>
                </a:solidFill>
              </a:defRPr>
            </a:defPPr>
            <a:lvl1pPr>
              <a:defRPr sz="2100" b="1">
                <a:solidFill>
                  <a:srgbClr val="8B78B3"/>
                </a:solidFill>
              </a:defRPr>
            </a:lvl1pPr>
            <a:lvl2pPr>
              <a:defRPr sz="2100" b="1">
                <a:solidFill>
                  <a:srgbClr val="8B78B3"/>
                </a:solidFill>
              </a:defRPr>
            </a:lvl2pPr>
            <a:lvl3pPr>
              <a:defRPr sz="2100" b="1">
                <a:solidFill>
                  <a:srgbClr val="8B78B3"/>
                </a:solidFill>
              </a:defRPr>
            </a:lvl3pPr>
            <a:lvl4pPr>
              <a:defRPr sz="2100" b="1">
                <a:solidFill>
                  <a:srgbClr val="8B78B3"/>
                </a:solidFill>
              </a:defRPr>
            </a:lvl4pPr>
            <a:lvl5pPr>
              <a:defRPr sz="2100" b="1">
                <a:solidFill>
                  <a:srgbClr val="8B78B3"/>
                </a:solidFill>
              </a:defRPr>
            </a:lvl5pPr>
            <a:lvl6pPr>
              <a:defRPr sz="2100" b="1">
                <a:solidFill>
                  <a:srgbClr val="8B78B3"/>
                </a:solidFill>
              </a:defRPr>
            </a:lvl6pPr>
            <a:lvl7pPr>
              <a:defRPr sz="2100" b="1">
                <a:solidFill>
                  <a:srgbClr val="8B78B3"/>
                </a:solidFill>
              </a:defRPr>
            </a:lvl7pPr>
            <a:lvl8pPr>
              <a:defRPr sz="2100" b="1">
                <a:solidFill>
                  <a:srgbClr val="8B78B3"/>
                </a:solidFill>
              </a:defRPr>
            </a:lvl8pPr>
            <a:lvl9pPr>
              <a:defRPr sz="210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B78B3"/>
                </a:solidFill>
              </a:defRPr>
            </a:pPr>
            <a:r>
              <a:rPr sz="2100" b="1">
                <a:solidFill>
                  <a:srgbClr val="8B78B3"/>
                </a:solidFill>
              </a:rPr>
              <a:t>06:00–07:30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7BDBE-9BAD-4B44-9EAA-3E249AA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Rehearsal, results, README and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2258791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00483-3639-4CDB-A17D-70436CF3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11 / SUBMISSION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9942F-E190-474C-B5A7-0D44F1D2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Demonstration and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B2173-46DE-4893-A910-C14A1A07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7EB9A-1BE2-452A-A2C9-1F76EABE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EA127-4550-4CA3-9ECC-6AABC7DB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Working Stage 1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A50F9-42DF-42F7-8BB1-6D3506F9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Pastel interface and deterministic replay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Pause, reset, step and speed controls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Sensor offset and packet-loss scenarios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Decision log and CSV export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2CF7D-76AA-43DA-AF43-C32AE801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Stage 2 evidence to publish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AAE78-F969-4736-9409-0EE1555D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Endpoint RMSE and NASA S-score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Coverage, width and late-estimate rate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Per-mode precision, recall and PR-AUC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Latency and simulated decision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EBAEE-4046-4C61-B547-E730C65E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Portal values are synthetic. Repository reports contain measured benchmark results. Industrial ROI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1480364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C67F1-8DD7-431E-BCC9-12DF5656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B78B3"/>
                </a:solidFill>
              </a:defRPr>
            </a:defPPr>
            <a:lvl1pPr>
              <a:defRPr sz="1050" b="1">
                <a:solidFill>
                  <a:srgbClr val="8B78B3"/>
                </a:solidFill>
              </a:defRPr>
            </a:lvl1pPr>
            <a:lvl2pPr>
              <a:defRPr sz="1050" b="1">
                <a:solidFill>
                  <a:srgbClr val="8B78B3"/>
                </a:solidFill>
              </a:defRPr>
            </a:lvl2pPr>
            <a:lvl3pPr>
              <a:defRPr sz="1050" b="1">
                <a:solidFill>
                  <a:srgbClr val="8B78B3"/>
                </a:solidFill>
              </a:defRPr>
            </a:lvl3pPr>
            <a:lvl4pPr>
              <a:defRPr sz="1050" b="1">
                <a:solidFill>
                  <a:srgbClr val="8B78B3"/>
                </a:solidFill>
              </a:defRPr>
            </a:lvl4pPr>
            <a:lvl5pPr>
              <a:defRPr sz="1050" b="1">
                <a:solidFill>
                  <a:srgbClr val="8B78B3"/>
                </a:solidFill>
              </a:defRPr>
            </a:lvl5pPr>
            <a:lvl6pPr>
              <a:defRPr sz="1050" b="1">
                <a:solidFill>
                  <a:srgbClr val="8B78B3"/>
                </a:solidFill>
              </a:defRPr>
            </a:lvl6pPr>
            <a:lvl7pPr>
              <a:defRPr sz="1050" b="1">
                <a:solidFill>
                  <a:srgbClr val="8B78B3"/>
                </a:solidFill>
              </a:defRPr>
            </a:lvl7pPr>
            <a:lvl8pPr>
              <a:defRPr sz="1050" b="1">
                <a:solidFill>
                  <a:srgbClr val="8B78B3"/>
                </a:solidFill>
              </a:defRPr>
            </a:lvl8pPr>
            <a:lvl9pPr>
              <a:defRPr sz="1050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B78B3"/>
                </a:solidFill>
              </a:defRPr>
            </a:pPr>
            <a:r>
              <a:rPr sz="1050" b="1">
                <a:solidFill>
                  <a:srgbClr val="8B78B3"/>
                </a:solidFill>
              </a:rPr>
              <a:t>12 / MEASURED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D8C2C-E1C3-4B22-8693-1C0BBF55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303747"/>
                </a:solidFill>
              </a:defRPr>
            </a:defPPr>
            <a:lvl1pPr>
              <a:defRPr sz="3225" b="1">
                <a:solidFill>
                  <a:srgbClr val="303747"/>
                </a:solidFill>
              </a:defRPr>
            </a:lvl1pPr>
            <a:lvl2pPr>
              <a:defRPr sz="3225" b="1">
                <a:solidFill>
                  <a:srgbClr val="303747"/>
                </a:solidFill>
              </a:defRPr>
            </a:lvl2pPr>
            <a:lvl3pPr>
              <a:defRPr sz="3225" b="1">
                <a:solidFill>
                  <a:srgbClr val="303747"/>
                </a:solidFill>
              </a:defRPr>
            </a:lvl3pPr>
            <a:lvl4pPr>
              <a:defRPr sz="3225" b="1">
                <a:solidFill>
                  <a:srgbClr val="303747"/>
                </a:solidFill>
              </a:defRPr>
            </a:lvl4pPr>
            <a:lvl5pPr>
              <a:defRPr sz="3225" b="1">
                <a:solidFill>
                  <a:srgbClr val="303747"/>
                </a:solidFill>
              </a:defRPr>
            </a:lvl5pPr>
            <a:lvl6pPr>
              <a:defRPr sz="3225" b="1">
                <a:solidFill>
                  <a:srgbClr val="303747"/>
                </a:solidFill>
              </a:defRPr>
            </a:lvl6pPr>
            <a:lvl7pPr>
              <a:defRPr sz="3225" b="1">
                <a:solidFill>
                  <a:srgbClr val="303747"/>
                </a:solidFill>
              </a:defRPr>
            </a:lvl7pPr>
            <a:lvl8pPr>
              <a:defRPr sz="3225" b="1">
                <a:solidFill>
                  <a:srgbClr val="303747"/>
                </a:solidFill>
              </a:defRPr>
            </a:lvl8pPr>
            <a:lvl9pPr>
              <a:defRPr sz="3225" b="1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303747"/>
                </a:solidFill>
              </a:defRPr>
            </a:pPr>
            <a:r>
              <a:rPr sz="3225" b="1">
                <a:solidFill>
                  <a:srgbClr val="303747"/>
                </a:solidFill>
              </a:rPr>
              <a:t>Initial benchmark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2E8A0-86A5-4F85-8ACE-70487C9C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47887"/>
                </a:solidFill>
              </a:defRPr>
            </a:defPPr>
            <a:lvl1pPr>
              <a:defRPr sz="975" b="0">
                <a:solidFill>
                  <a:srgbClr val="747887"/>
                </a:solidFill>
              </a:defRPr>
            </a:lvl1pPr>
            <a:lvl2pPr>
              <a:defRPr sz="975" b="0">
                <a:solidFill>
                  <a:srgbClr val="747887"/>
                </a:solidFill>
              </a:defRPr>
            </a:lvl2pPr>
            <a:lvl3pPr>
              <a:defRPr sz="975" b="0">
                <a:solidFill>
                  <a:srgbClr val="747887"/>
                </a:solidFill>
              </a:defRPr>
            </a:lvl3pPr>
            <a:lvl4pPr>
              <a:defRPr sz="975" b="0">
                <a:solidFill>
                  <a:srgbClr val="747887"/>
                </a:solidFill>
              </a:defRPr>
            </a:lvl4pPr>
            <a:lvl5pPr>
              <a:defRPr sz="975" b="0">
                <a:solidFill>
                  <a:srgbClr val="747887"/>
                </a:solidFill>
              </a:defRPr>
            </a:lvl5pPr>
            <a:lvl6pPr>
              <a:defRPr sz="975" b="0">
                <a:solidFill>
                  <a:srgbClr val="747887"/>
                </a:solidFill>
              </a:defRPr>
            </a:lvl6pPr>
            <a:lvl7pPr>
              <a:defRPr sz="975" b="0">
                <a:solidFill>
                  <a:srgbClr val="747887"/>
                </a:solidFill>
              </a:defRPr>
            </a:lvl7pPr>
            <a:lvl8pPr>
              <a:defRPr sz="975" b="0">
                <a:solidFill>
                  <a:srgbClr val="747887"/>
                </a:solidFill>
              </a:defRPr>
            </a:lvl8pPr>
            <a:lvl9pPr>
              <a:defRPr sz="975" b="0">
                <a:solidFill>
                  <a:srgbClr val="74788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47887"/>
                </a:solidFill>
              </a:defRPr>
            </a:pPr>
            <a:r>
              <a:rPr sz="975" b="0">
                <a:solidFill>
                  <a:srgbClr val="747887"/>
                </a:solidFill>
              </a:rPr>
              <a:t>TimeGuard AI · AI Innovation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9878E-091A-48CC-BF90-33CCCD2E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8B78B3"/>
                </a:solidFill>
              </a:defRPr>
            </a:defPPr>
            <a:lvl1pPr>
              <a:defRPr sz="975" b="0">
                <a:solidFill>
                  <a:srgbClr val="8B78B3"/>
                </a:solidFill>
              </a:defRPr>
            </a:lvl1pPr>
            <a:lvl2pPr>
              <a:defRPr sz="975" b="0">
                <a:solidFill>
                  <a:srgbClr val="8B78B3"/>
                </a:solidFill>
              </a:defRPr>
            </a:lvl2pPr>
            <a:lvl3pPr>
              <a:defRPr sz="975" b="0">
                <a:solidFill>
                  <a:srgbClr val="8B78B3"/>
                </a:solidFill>
              </a:defRPr>
            </a:lvl3pPr>
            <a:lvl4pPr>
              <a:defRPr sz="975" b="0">
                <a:solidFill>
                  <a:srgbClr val="8B78B3"/>
                </a:solidFill>
              </a:defRPr>
            </a:lvl4pPr>
            <a:lvl5pPr>
              <a:defRPr sz="975" b="0">
                <a:solidFill>
                  <a:srgbClr val="8B78B3"/>
                </a:solidFill>
              </a:defRPr>
            </a:lvl5pPr>
            <a:lvl6pPr>
              <a:defRPr sz="975" b="0">
                <a:solidFill>
                  <a:srgbClr val="8B78B3"/>
                </a:solidFill>
              </a:defRPr>
            </a:lvl6pPr>
            <a:lvl7pPr>
              <a:defRPr sz="975" b="0">
                <a:solidFill>
                  <a:srgbClr val="8B78B3"/>
                </a:solidFill>
              </a:defRPr>
            </a:lvl7pPr>
            <a:lvl8pPr>
              <a:defRPr sz="975" b="0">
                <a:solidFill>
                  <a:srgbClr val="8B78B3"/>
                </a:solidFill>
              </a:defRPr>
            </a:lvl8pPr>
            <a:lvl9pPr>
              <a:defRPr sz="975" b="0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8B78B3"/>
                </a:solidFill>
              </a:defRPr>
            </a:pPr>
            <a:r>
              <a:rPr sz="975" b="0">
                <a:solidFill>
                  <a:srgbClr val="8B78B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EEBB4-AFA3-4778-988A-88B8C7C1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RUL and 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A17C2-6BB7-4D32-B327-033DD61D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Median raw RMSE: 14.90 cycles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Late estimates: 65% median / 28% decision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Nominal 90% interval: 84% test coverage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Mean interval width: 54.27 cycles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60EA4-3C24-408B-ACC5-4D37BC9A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Classification and latency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B24D5-1F3A-4E22-B5F5-0B3C1980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3747"/>
                </a:solidFill>
              </a:defRPr>
            </a:defPPr>
            <a:lvl1pPr>
              <a:defRPr sz="1875" b="0">
                <a:solidFill>
                  <a:srgbClr val="303747"/>
                </a:solidFill>
              </a:defRPr>
            </a:lvl1pPr>
            <a:lvl2pPr>
              <a:defRPr sz="1875" b="0">
                <a:solidFill>
                  <a:srgbClr val="303747"/>
                </a:solidFill>
              </a:defRPr>
            </a:lvl2pPr>
            <a:lvl3pPr>
              <a:defRPr sz="1875" b="0">
                <a:solidFill>
                  <a:srgbClr val="303747"/>
                </a:solidFill>
              </a:defRPr>
            </a:lvl3pPr>
            <a:lvl4pPr>
              <a:defRPr sz="1875" b="0">
                <a:solidFill>
                  <a:srgbClr val="303747"/>
                </a:solidFill>
              </a:defRPr>
            </a:lvl4pPr>
            <a:lvl5pPr>
              <a:defRPr sz="1875" b="0">
                <a:solidFill>
                  <a:srgbClr val="303747"/>
                </a:solidFill>
              </a:defRPr>
            </a:lvl5pPr>
            <a:lvl6pPr>
              <a:defRPr sz="1875" b="0">
                <a:solidFill>
                  <a:srgbClr val="303747"/>
                </a:solidFill>
              </a:defRPr>
            </a:lvl6pPr>
            <a:lvl7pPr>
              <a:defRPr sz="1875" b="0">
                <a:solidFill>
                  <a:srgbClr val="303747"/>
                </a:solidFill>
              </a:defRPr>
            </a:lvl7pPr>
            <a:lvl8pPr>
              <a:defRPr sz="1875" b="0">
                <a:solidFill>
                  <a:srgbClr val="303747"/>
                </a:solidFill>
              </a:defRPr>
            </a:lvl8pPr>
            <a:lvl9pPr>
              <a:defRPr sz="1875" b="0">
                <a:solidFill>
                  <a:srgbClr val="30374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AI4I precision: 94.92%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AI4I recall: 82.35%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AI4I F1: 88.19%</a:t>
            </a:r>
          </a:p>
          <a:p xmlns:a="http://schemas.openxmlformats.org/drawingml/2006/main">
            <a:pPr>
              <a:defRPr sz="1875" b="0">
                <a:solidFill>
                  <a:srgbClr val="303747"/>
                </a:solidFill>
              </a:defRPr>
            </a:pPr>
            <a:r>
              <a:rPr sz="1875" b="0">
                <a:solidFill>
                  <a:srgbClr val="303747"/>
                </a:solidFill>
              </a:rPr>
              <a:t>Four-model RUL p95: 7.92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50074-5DE7-4849-BD3F-CA43FD02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B78B3"/>
                </a:solidFill>
              </a:defRPr>
            </a:defPPr>
            <a:lvl1pPr>
              <a:defRPr sz="2025" b="1">
                <a:solidFill>
                  <a:srgbClr val="8B78B3"/>
                </a:solidFill>
              </a:defRPr>
            </a:lvl1pPr>
            <a:lvl2pPr>
              <a:defRPr sz="2025" b="1">
                <a:solidFill>
                  <a:srgbClr val="8B78B3"/>
                </a:solidFill>
              </a:defRPr>
            </a:lvl2pPr>
            <a:lvl3pPr>
              <a:defRPr sz="2025" b="1">
                <a:solidFill>
                  <a:srgbClr val="8B78B3"/>
                </a:solidFill>
              </a:defRPr>
            </a:lvl3pPr>
            <a:lvl4pPr>
              <a:defRPr sz="2025" b="1">
                <a:solidFill>
                  <a:srgbClr val="8B78B3"/>
                </a:solidFill>
              </a:defRPr>
            </a:lvl4pPr>
            <a:lvl5pPr>
              <a:defRPr sz="2025" b="1">
                <a:solidFill>
                  <a:srgbClr val="8B78B3"/>
                </a:solidFill>
              </a:defRPr>
            </a:lvl5pPr>
            <a:lvl6pPr>
              <a:defRPr sz="2025" b="1">
                <a:solidFill>
                  <a:srgbClr val="8B78B3"/>
                </a:solidFill>
              </a:defRPr>
            </a:lvl6pPr>
            <a:lvl7pPr>
              <a:defRPr sz="2025" b="1">
                <a:solidFill>
                  <a:srgbClr val="8B78B3"/>
                </a:solidFill>
              </a:defRPr>
            </a:lvl7pPr>
            <a:lvl8pPr>
              <a:defRPr sz="2025" b="1">
                <a:solidFill>
                  <a:srgbClr val="8B78B3"/>
                </a:solidFill>
              </a:defRPr>
            </a:lvl8pPr>
            <a:lvl9pPr>
              <a:defRPr sz="2025" b="1">
                <a:solidFill>
                  <a:srgbClr val="8B78B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B78B3"/>
                </a:solidFill>
              </a:defRPr>
            </a:pPr>
            <a:r>
              <a:rPr sz="2025" b="1">
                <a:solidFill>
                  <a:srgbClr val="8B78B3"/>
                </a:solidFill>
              </a:rPr>
              <a:t>Limits: baseline RUL accuracy is better. Coverage misses target. TWF and RNF recall are zero.</a:t>
            </a:r>
          </a:p>
        </p:txBody>
      </p:sp>
    </p:spTree>
    <p:extLst>
      <p:ext uri="{BB962C8B-B14F-4D97-AF65-F5344CB8AC3E}">
        <p14:creationId xmlns:p14="http://schemas.microsoft.com/office/powerpoint/2010/main" val="1435929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2026-10-19T12:14:37.0370000Z</dcterms:created>
  <dcterms:modified xsi:type="dcterms:W3CDTF">2026-10-19T12:14:37.0370000Z</dcterms:modified>
</coreProperties>
</file>